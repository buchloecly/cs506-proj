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33"/>
  </p:notesMasterIdLst>
  <p:sldIdLst>
    <p:sldId id="288" r:id="rId3"/>
    <p:sldId id="261" r:id="rId4"/>
    <p:sldId id="287" r:id="rId5"/>
    <p:sldId id="306" r:id="rId6"/>
    <p:sldId id="302" r:id="rId7"/>
    <p:sldId id="307" r:id="rId8"/>
    <p:sldId id="308" r:id="rId9"/>
    <p:sldId id="309" r:id="rId10"/>
    <p:sldId id="310" r:id="rId11"/>
    <p:sldId id="311" r:id="rId12"/>
    <p:sldId id="312" r:id="rId13"/>
    <p:sldId id="316" r:id="rId14"/>
    <p:sldId id="313" r:id="rId15"/>
    <p:sldId id="314" r:id="rId16"/>
    <p:sldId id="315" r:id="rId17"/>
    <p:sldId id="317" r:id="rId18"/>
    <p:sldId id="318" r:id="rId19"/>
    <p:sldId id="319" r:id="rId20"/>
    <p:sldId id="320" r:id="rId21"/>
    <p:sldId id="321" r:id="rId22"/>
    <p:sldId id="322" r:id="rId23"/>
    <p:sldId id="303" r:id="rId24"/>
    <p:sldId id="325" r:id="rId25"/>
    <p:sldId id="324" r:id="rId26"/>
    <p:sldId id="304" r:id="rId27"/>
    <p:sldId id="326" r:id="rId28"/>
    <p:sldId id="301" r:id="rId29"/>
    <p:sldId id="327" r:id="rId30"/>
    <p:sldId id="328" r:id="rId31"/>
    <p:sldId id="305"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D99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1" autoAdjust="0"/>
    <p:restoredTop sz="96314" autoAdjust="0"/>
  </p:normalViewPr>
  <p:slideViewPr>
    <p:cSldViewPr snapToGrid="0">
      <p:cViewPr varScale="1">
        <p:scale>
          <a:sx n="102" d="100"/>
          <a:sy n="102" d="100"/>
        </p:scale>
        <p:origin x="108" y="160"/>
      </p:cViewPr>
      <p:guideLst>
        <p:guide orient="horz" pos="2160"/>
        <p:guide pos="384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阿里巴巴普惠体 M" panose="00020600040101010101" pitchFamily="18" charset="-122"/>
                <a:ea typeface="阿里巴巴普惠体 M"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阿里巴巴普惠体 M" panose="00020600040101010101" pitchFamily="18" charset="-122"/>
                <a:ea typeface="阿里巴巴普惠体 M" panose="00020600040101010101" pitchFamily="18" charset="-122"/>
              </a:defRPr>
            </a:lvl1pPr>
          </a:lstStyle>
          <a:p>
            <a:fld id="{18387E6D-879A-4C3F-B90B-CB5B7D8C9D92}" type="datetimeFigureOut">
              <a:rPr lang="zh-CN" altLang="en-US" smtClean="0"/>
              <a:t>2025/3/31</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阿里巴巴普惠体 M" panose="00020600040101010101" pitchFamily="18" charset="-122"/>
                <a:ea typeface="阿里巴巴普惠体 M"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阿里巴巴普惠体 M" panose="00020600040101010101" pitchFamily="18" charset="-122"/>
                <a:ea typeface="阿里巴巴普惠体 M" panose="00020600040101010101" pitchFamily="18" charset="-122"/>
              </a:defRPr>
            </a:lvl1pPr>
          </a:lstStyle>
          <a:p>
            <a:fld id="{4DD70E93-9BC9-4DA2-8CAC-F4FC08D1C8CE}" type="slidenum">
              <a:rPr lang="zh-CN" altLang="en-US" smtClean="0"/>
              <a:t>‹#›</a:t>
            </a:fld>
            <a:endParaRPr lang="zh-CN" altLang="en-US" dirty="0"/>
          </a:p>
        </p:txBody>
      </p:sp>
    </p:spTree>
    <p:extLst>
      <p:ext uri="{BB962C8B-B14F-4D97-AF65-F5344CB8AC3E}">
        <p14:creationId xmlns:p14="http://schemas.microsoft.com/office/powerpoint/2010/main" val="1727502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1pPr>
    <a:lvl2pPr marL="4572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2pPr>
    <a:lvl3pPr marL="9144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3pPr>
    <a:lvl4pPr marL="13716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4pPr>
    <a:lvl5pPr marL="18288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3851985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1CB8912-F0BA-4AD8-8415-DA1F26BCB09F}" type="slidenum">
              <a:rPr lang="zh-CN" altLang="en-US" smtClean="0"/>
              <a:t>2</a:t>
            </a:fld>
            <a:endParaRPr lang="zh-CN" altLang="en-US"/>
          </a:p>
        </p:txBody>
      </p:sp>
    </p:spTree>
    <p:extLst>
      <p:ext uri="{BB962C8B-B14F-4D97-AF65-F5344CB8AC3E}">
        <p14:creationId xmlns:p14="http://schemas.microsoft.com/office/powerpoint/2010/main" val="879522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3</a:t>
            </a:fld>
            <a:endParaRPr lang="zh-CN" altLang="en-US"/>
          </a:p>
        </p:txBody>
      </p:sp>
    </p:spTree>
    <p:extLst>
      <p:ext uri="{BB962C8B-B14F-4D97-AF65-F5344CB8AC3E}">
        <p14:creationId xmlns:p14="http://schemas.microsoft.com/office/powerpoint/2010/main" val="27986063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C7E06-2AC1-B74F-B953-2E96E1F8A5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687405-21F5-921A-FD8B-5B5BAE5133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609326-8F31-CE17-0266-ADBDF62BA3B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891CF2F-7238-CB6B-8087-547E8A068293}"/>
              </a:ext>
            </a:extLst>
          </p:cNvPr>
          <p:cNvSpPr>
            <a:spLocks noGrp="1"/>
          </p:cNvSpPr>
          <p:nvPr>
            <p:ph type="sldNum" sz="quarter" idx="10"/>
          </p:nvPr>
        </p:nvSpPr>
        <p:spPr/>
        <p:txBody>
          <a:bodyPr/>
          <a:lstStyle/>
          <a:p>
            <a:fld id="{B2A64216-7571-4F55-B8A0-A9B09CAD06D6}" type="slidenum">
              <a:rPr lang="zh-CN" altLang="en-US" smtClean="0"/>
              <a:t>4</a:t>
            </a:fld>
            <a:endParaRPr lang="zh-CN" altLang="en-US"/>
          </a:p>
        </p:txBody>
      </p:sp>
    </p:spTree>
    <p:extLst>
      <p:ext uri="{BB962C8B-B14F-4D97-AF65-F5344CB8AC3E}">
        <p14:creationId xmlns:p14="http://schemas.microsoft.com/office/powerpoint/2010/main" val="273350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E411E-BA23-AD84-4C6D-B78EC9F869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A69FEB-9143-31D0-0AE2-E694C57481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94970C-F7D7-24B1-BEC3-5FFB0956B38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5322190-69ED-F915-FBE8-7B97CAA8BDD2}"/>
              </a:ext>
            </a:extLst>
          </p:cNvPr>
          <p:cNvSpPr>
            <a:spLocks noGrp="1"/>
          </p:cNvSpPr>
          <p:nvPr>
            <p:ph type="sldNum" sz="quarter" idx="10"/>
          </p:nvPr>
        </p:nvSpPr>
        <p:spPr/>
        <p:txBody>
          <a:bodyPr/>
          <a:lstStyle/>
          <a:p>
            <a:fld id="{F1CB8912-F0BA-4AD8-8415-DA1F26BCB09F}" type="slidenum">
              <a:rPr lang="zh-CN" altLang="en-US" smtClean="0"/>
              <a:t>5</a:t>
            </a:fld>
            <a:endParaRPr lang="zh-CN" altLang="en-US"/>
          </a:p>
        </p:txBody>
      </p:sp>
    </p:spTree>
    <p:extLst>
      <p:ext uri="{BB962C8B-B14F-4D97-AF65-F5344CB8AC3E}">
        <p14:creationId xmlns:p14="http://schemas.microsoft.com/office/powerpoint/2010/main" val="4229295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85FB-2463-BD52-46CF-D5FF71FC19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4C6E55-2508-B143-D095-625645B30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A73DE0-A22C-D1B8-4143-6679FDE93F0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2FE6040-4F02-7F27-C12C-0661437D97D5}"/>
              </a:ext>
            </a:extLst>
          </p:cNvPr>
          <p:cNvSpPr>
            <a:spLocks noGrp="1"/>
          </p:cNvSpPr>
          <p:nvPr>
            <p:ph type="sldNum" sz="quarter" idx="10"/>
          </p:nvPr>
        </p:nvSpPr>
        <p:spPr/>
        <p:txBody>
          <a:bodyPr/>
          <a:lstStyle/>
          <a:p>
            <a:fld id="{B2A64216-7571-4F55-B8A0-A9B09CAD06D6}" type="slidenum">
              <a:rPr lang="zh-CN" altLang="en-US" smtClean="0"/>
              <a:t>6</a:t>
            </a:fld>
            <a:endParaRPr lang="zh-CN" altLang="en-US"/>
          </a:p>
        </p:txBody>
      </p:sp>
    </p:spTree>
    <p:extLst>
      <p:ext uri="{BB962C8B-B14F-4D97-AF65-F5344CB8AC3E}">
        <p14:creationId xmlns:p14="http://schemas.microsoft.com/office/powerpoint/2010/main" val="2939626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43A1D-D3A1-C84C-E551-2C66C8E978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66C37DF-2518-79EC-D55C-0B979B8860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5FAA80-05D3-5782-CDD8-D6B43685274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5B4A8A7-0287-5D3C-C875-652E93135F58}"/>
              </a:ext>
            </a:extLst>
          </p:cNvPr>
          <p:cNvSpPr>
            <a:spLocks noGrp="1"/>
          </p:cNvSpPr>
          <p:nvPr>
            <p:ph type="sldNum" sz="quarter" idx="10"/>
          </p:nvPr>
        </p:nvSpPr>
        <p:spPr/>
        <p:txBody>
          <a:bodyPr/>
          <a:lstStyle/>
          <a:p>
            <a:fld id="{B2A64216-7571-4F55-B8A0-A9B09CAD06D6}" type="slidenum">
              <a:rPr lang="zh-CN" altLang="en-US" smtClean="0"/>
              <a:t>7</a:t>
            </a:fld>
            <a:endParaRPr lang="zh-CN" altLang="en-US"/>
          </a:p>
        </p:txBody>
      </p:sp>
    </p:spTree>
    <p:extLst>
      <p:ext uri="{BB962C8B-B14F-4D97-AF65-F5344CB8AC3E}">
        <p14:creationId xmlns:p14="http://schemas.microsoft.com/office/powerpoint/2010/main" val="3001446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B4A07-3E8B-3FB4-2403-5C23ECAF89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776077-CCDD-5B7A-1143-5123B18D2C0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7FCCF64-50B3-52C9-8C5D-EE928F07DBF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D40C66B-D931-61DE-CE7F-76B9CE061FD8}"/>
              </a:ext>
            </a:extLst>
          </p:cNvPr>
          <p:cNvSpPr>
            <a:spLocks noGrp="1"/>
          </p:cNvSpPr>
          <p:nvPr>
            <p:ph type="sldNum" sz="quarter" idx="10"/>
          </p:nvPr>
        </p:nvSpPr>
        <p:spPr/>
        <p:txBody>
          <a:bodyPr/>
          <a:lstStyle/>
          <a:p>
            <a:fld id="{B2A64216-7571-4F55-B8A0-A9B09CAD06D6}" type="slidenum">
              <a:rPr lang="zh-CN" altLang="en-US" smtClean="0"/>
              <a:t>8</a:t>
            </a:fld>
            <a:endParaRPr lang="zh-CN" altLang="en-US"/>
          </a:p>
        </p:txBody>
      </p:sp>
    </p:spTree>
    <p:extLst>
      <p:ext uri="{BB962C8B-B14F-4D97-AF65-F5344CB8AC3E}">
        <p14:creationId xmlns:p14="http://schemas.microsoft.com/office/powerpoint/2010/main" val="1975406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AB381-49FB-D4A2-98B2-B8B00996923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92C5BD-554D-1D56-DC14-29AA3CCF9D5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95F2DA-55A1-F80E-34AE-2FBBBE0F72C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E6AEDFD-0B4F-C0C6-524D-705978773D44}"/>
              </a:ext>
            </a:extLst>
          </p:cNvPr>
          <p:cNvSpPr>
            <a:spLocks noGrp="1"/>
          </p:cNvSpPr>
          <p:nvPr>
            <p:ph type="sldNum" sz="quarter" idx="10"/>
          </p:nvPr>
        </p:nvSpPr>
        <p:spPr/>
        <p:txBody>
          <a:bodyPr/>
          <a:lstStyle/>
          <a:p>
            <a:fld id="{B2A64216-7571-4F55-B8A0-A9B09CAD06D6}" type="slidenum">
              <a:rPr lang="zh-CN" altLang="en-US" smtClean="0"/>
              <a:t>9</a:t>
            </a:fld>
            <a:endParaRPr lang="zh-CN" altLang="en-US"/>
          </a:p>
        </p:txBody>
      </p:sp>
    </p:spTree>
    <p:extLst>
      <p:ext uri="{BB962C8B-B14F-4D97-AF65-F5344CB8AC3E}">
        <p14:creationId xmlns:p14="http://schemas.microsoft.com/office/powerpoint/2010/main" val="3380344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E2B78-D1A9-708F-D6CD-66711901F5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13837B-D123-690D-CD87-3FF861E2DC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6BD1EB6-7CBD-9688-E358-CF4BEA21158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A6D7083-67EB-35A7-4951-B81178D5B0AE}"/>
              </a:ext>
            </a:extLst>
          </p:cNvPr>
          <p:cNvSpPr>
            <a:spLocks noGrp="1"/>
          </p:cNvSpPr>
          <p:nvPr>
            <p:ph type="sldNum" sz="quarter" idx="10"/>
          </p:nvPr>
        </p:nvSpPr>
        <p:spPr/>
        <p:txBody>
          <a:bodyPr/>
          <a:lstStyle/>
          <a:p>
            <a:fld id="{B2A64216-7571-4F55-B8A0-A9B09CAD06D6}" type="slidenum">
              <a:rPr lang="zh-CN" altLang="en-US" smtClean="0"/>
              <a:t>10</a:t>
            </a:fld>
            <a:endParaRPr lang="zh-CN" altLang="en-US"/>
          </a:p>
        </p:txBody>
      </p:sp>
    </p:spTree>
    <p:extLst>
      <p:ext uri="{BB962C8B-B14F-4D97-AF65-F5344CB8AC3E}">
        <p14:creationId xmlns:p14="http://schemas.microsoft.com/office/powerpoint/2010/main" val="32953489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9052-A957-2C86-C9CD-33C5609DFD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3CAE2D-B7A0-BA75-3108-A9F73B872D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00ACC9-F59B-880D-F644-2A64A20706E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105DC66-8CA8-D5C8-0B15-B237E91B30B5}"/>
              </a:ext>
            </a:extLst>
          </p:cNvPr>
          <p:cNvSpPr>
            <a:spLocks noGrp="1"/>
          </p:cNvSpPr>
          <p:nvPr>
            <p:ph type="sldNum" sz="quarter" idx="10"/>
          </p:nvPr>
        </p:nvSpPr>
        <p:spPr/>
        <p:txBody>
          <a:bodyPr/>
          <a:lstStyle/>
          <a:p>
            <a:fld id="{B2A64216-7571-4F55-B8A0-A9B09CAD06D6}" type="slidenum">
              <a:rPr lang="zh-CN" altLang="en-US" smtClean="0"/>
              <a:t>11</a:t>
            </a:fld>
            <a:endParaRPr lang="zh-CN" altLang="en-US"/>
          </a:p>
        </p:txBody>
      </p:sp>
    </p:spTree>
    <p:extLst>
      <p:ext uri="{BB962C8B-B14F-4D97-AF65-F5344CB8AC3E}">
        <p14:creationId xmlns:p14="http://schemas.microsoft.com/office/powerpoint/2010/main" val="1590844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715B3-C269-5BEF-BF4E-B01A39CDEF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BA3E082-6060-CDEF-720A-6C629289A10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0CD7368-EE62-E815-E717-148ADF9E1AC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8C34591-8937-DE19-0AF5-DDDC281BD4D5}"/>
              </a:ext>
            </a:extLst>
          </p:cNvPr>
          <p:cNvSpPr>
            <a:spLocks noGrp="1"/>
          </p:cNvSpPr>
          <p:nvPr>
            <p:ph type="sldNum" sz="quarter" idx="10"/>
          </p:nvPr>
        </p:nvSpPr>
        <p:spPr/>
        <p:txBody>
          <a:bodyPr/>
          <a:lstStyle/>
          <a:p>
            <a:fld id="{B2A64216-7571-4F55-B8A0-A9B09CAD06D6}" type="slidenum">
              <a:rPr lang="zh-CN" altLang="en-US" smtClean="0"/>
              <a:t>12</a:t>
            </a:fld>
            <a:endParaRPr lang="zh-CN" altLang="en-US"/>
          </a:p>
        </p:txBody>
      </p:sp>
    </p:spTree>
    <p:extLst>
      <p:ext uri="{BB962C8B-B14F-4D97-AF65-F5344CB8AC3E}">
        <p14:creationId xmlns:p14="http://schemas.microsoft.com/office/powerpoint/2010/main" val="18119923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33DFB-9412-5FC8-D0D8-58EE68D2F2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071586-F737-154C-79EE-CC4053639D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D4FCF35-56F7-57DB-82EA-DF60C098234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AC8E789-4477-8408-206B-5D2842FA5338}"/>
              </a:ext>
            </a:extLst>
          </p:cNvPr>
          <p:cNvSpPr>
            <a:spLocks noGrp="1"/>
          </p:cNvSpPr>
          <p:nvPr>
            <p:ph type="sldNum" sz="quarter" idx="10"/>
          </p:nvPr>
        </p:nvSpPr>
        <p:spPr/>
        <p:txBody>
          <a:bodyPr/>
          <a:lstStyle/>
          <a:p>
            <a:fld id="{B2A64216-7571-4F55-B8A0-A9B09CAD06D6}" type="slidenum">
              <a:rPr lang="zh-CN" altLang="en-US" smtClean="0"/>
              <a:t>13</a:t>
            </a:fld>
            <a:endParaRPr lang="zh-CN" altLang="en-US"/>
          </a:p>
        </p:txBody>
      </p:sp>
    </p:spTree>
    <p:extLst>
      <p:ext uri="{BB962C8B-B14F-4D97-AF65-F5344CB8AC3E}">
        <p14:creationId xmlns:p14="http://schemas.microsoft.com/office/powerpoint/2010/main" val="3055807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8020-A629-4E8F-8D93-3EC00F98DC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C13737-BC37-3A76-1AC4-D37DC9B53B8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B84703-C7C9-E351-0643-3BD7496A3D6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F1ED335-8D98-B217-7C68-18CCD9A54B27}"/>
              </a:ext>
            </a:extLst>
          </p:cNvPr>
          <p:cNvSpPr>
            <a:spLocks noGrp="1"/>
          </p:cNvSpPr>
          <p:nvPr>
            <p:ph type="sldNum" sz="quarter" idx="10"/>
          </p:nvPr>
        </p:nvSpPr>
        <p:spPr/>
        <p:txBody>
          <a:bodyPr/>
          <a:lstStyle/>
          <a:p>
            <a:fld id="{B2A64216-7571-4F55-B8A0-A9B09CAD06D6}" type="slidenum">
              <a:rPr lang="zh-CN" altLang="en-US" smtClean="0"/>
              <a:t>14</a:t>
            </a:fld>
            <a:endParaRPr lang="zh-CN" altLang="en-US"/>
          </a:p>
        </p:txBody>
      </p:sp>
    </p:spTree>
    <p:extLst>
      <p:ext uri="{BB962C8B-B14F-4D97-AF65-F5344CB8AC3E}">
        <p14:creationId xmlns:p14="http://schemas.microsoft.com/office/powerpoint/2010/main" val="2014109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A71D4-F962-537A-2EE3-7ACFB856A8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0B160CE-3625-F3F2-C5C5-7CD5A2F0737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B124BA-65EA-94D4-4B7E-404E4C4A194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DD4D47B-91D7-500E-F292-665455F35748}"/>
              </a:ext>
            </a:extLst>
          </p:cNvPr>
          <p:cNvSpPr>
            <a:spLocks noGrp="1"/>
          </p:cNvSpPr>
          <p:nvPr>
            <p:ph type="sldNum" sz="quarter" idx="10"/>
          </p:nvPr>
        </p:nvSpPr>
        <p:spPr/>
        <p:txBody>
          <a:bodyPr/>
          <a:lstStyle/>
          <a:p>
            <a:fld id="{B2A64216-7571-4F55-B8A0-A9B09CAD06D6}" type="slidenum">
              <a:rPr lang="zh-CN" altLang="en-US" smtClean="0"/>
              <a:t>15</a:t>
            </a:fld>
            <a:endParaRPr lang="zh-CN" altLang="en-US"/>
          </a:p>
        </p:txBody>
      </p:sp>
    </p:spTree>
    <p:extLst>
      <p:ext uri="{BB962C8B-B14F-4D97-AF65-F5344CB8AC3E}">
        <p14:creationId xmlns:p14="http://schemas.microsoft.com/office/powerpoint/2010/main" val="5597269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E2A0E-C70C-5405-0ADE-AC4747E46F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08B5E64-49A2-F549-E958-DF1A708570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B7A7678-80D6-A3A6-747E-ACA01175558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3F4D529-370E-CDD3-8BE8-48139DAE0471}"/>
              </a:ext>
            </a:extLst>
          </p:cNvPr>
          <p:cNvSpPr>
            <a:spLocks noGrp="1"/>
          </p:cNvSpPr>
          <p:nvPr>
            <p:ph type="sldNum" sz="quarter" idx="10"/>
          </p:nvPr>
        </p:nvSpPr>
        <p:spPr/>
        <p:txBody>
          <a:bodyPr/>
          <a:lstStyle/>
          <a:p>
            <a:fld id="{B2A64216-7571-4F55-B8A0-A9B09CAD06D6}" type="slidenum">
              <a:rPr lang="zh-CN" altLang="en-US" smtClean="0"/>
              <a:t>16</a:t>
            </a:fld>
            <a:endParaRPr lang="zh-CN" altLang="en-US"/>
          </a:p>
        </p:txBody>
      </p:sp>
    </p:spTree>
    <p:extLst>
      <p:ext uri="{BB962C8B-B14F-4D97-AF65-F5344CB8AC3E}">
        <p14:creationId xmlns:p14="http://schemas.microsoft.com/office/powerpoint/2010/main" val="1171473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907E-C5E9-C6AD-BAA6-053E255A243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D14ECE-5B22-6D41-1452-26B9453069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BD0527-59D4-4270-B763-0E7EE90D982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C654C68-63BD-75DD-CCE7-3C5139A7D48B}"/>
              </a:ext>
            </a:extLst>
          </p:cNvPr>
          <p:cNvSpPr>
            <a:spLocks noGrp="1"/>
          </p:cNvSpPr>
          <p:nvPr>
            <p:ph type="sldNum" sz="quarter" idx="10"/>
          </p:nvPr>
        </p:nvSpPr>
        <p:spPr/>
        <p:txBody>
          <a:bodyPr/>
          <a:lstStyle/>
          <a:p>
            <a:fld id="{B2A64216-7571-4F55-B8A0-A9B09CAD06D6}" type="slidenum">
              <a:rPr lang="zh-CN" altLang="en-US" smtClean="0"/>
              <a:t>17</a:t>
            </a:fld>
            <a:endParaRPr lang="zh-CN" altLang="en-US"/>
          </a:p>
        </p:txBody>
      </p:sp>
    </p:spTree>
    <p:extLst>
      <p:ext uri="{BB962C8B-B14F-4D97-AF65-F5344CB8AC3E}">
        <p14:creationId xmlns:p14="http://schemas.microsoft.com/office/powerpoint/2010/main" val="29802446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59006-2914-9DCF-9F7F-2E17F3235E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381DFB2-41FA-9131-6735-B8F7330D0A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B6E0D7-CD1E-D95C-8313-75746D5DBE3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FAC7B37-B039-3C9D-8E84-3C4D865C90B7}"/>
              </a:ext>
            </a:extLst>
          </p:cNvPr>
          <p:cNvSpPr>
            <a:spLocks noGrp="1"/>
          </p:cNvSpPr>
          <p:nvPr>
            <p:ph type="sldNum" sz="quarter" idx="10"/>
          </p:nvPr>
        </p:nvSpPr>
        <p:spPr/>
        <p:txBody>
          <a:bodyPr/>
          <a:lstStyle/>
          <a:p>
            <a:fld id="{B2A64216-7571-4F55-B8A0-A9B09CAD06D6}" type="slidenum">
              <a:rPr lang="zh-CN" altLang="en-US" smtClean="0"/>
              <a:t>18</a:t>
            </a:fld>
            <a:endParaRPr lang="zh-CN" altLang="en-US"/>
          </a:p>
        </p:txBody>
      </p:sp>
    </p:spTree>
    <p:extLst>
      <p:ext uri="{BB962C8B-B14F-4D97-AF65-F5344CB8AC3E}">
        <p14:creationId xmlns:p14="http://schemas.microsoft.com/office/powerpoint/2010/main" val="2050621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126FE-379C-ED3C-47EF-52FAE2A542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AC4BAA8-70F1-580E-93CE-46708DD258C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4CF955-C969-45A3-A003-1E25D833F30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A9C4FB5-BD55-3866-10DB-D5C15104DECC}"/>
              </a:ext>
            </a:extLst>
          </p:cNvPr>
          <p:cNvSpPr>
            <a:spLocks noGrp="1"/>
          </p:cNvSpPr>
          <p:nvPr>
            <p:ph type="sldNum" sz="quarter" idx="10"/>
          </p:nvPr>
        </p:nvSpPr>
        <p:spPr/>
        <p:txBody>
          <a:bodyPr/>
          <a:lstStyle/>
          <a:p>
            <a:fld id="{B2A64216-7571-4F55-B8A0-A9B09CAD06D6}" type="slidenum">
              <a:rPr lang="zh-CN" altLang="en-US" smtClean="0"/>
              <a:t>19</a:t>
            </a:fld>
            <a:endParaRPr lang="zh-CN" altLang="en-US"/>
          </a:p>
        </p:txBody>
      </p:sp>
    </p:spTree>
    <p:extLst>
      <p:ext uri="{BB962C8B-B14F-4D97-AF65-F5344CB8AC3E}">
        <p14:creationId xmlns:p14="http://schemas.microsoft.com/office/powerpoint/2010/main" val="17240392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1B98A-455D-AA65-B406-1320ED713F2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6652CA-6DDB-2B08-E13E-DDFF2C41B1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A512039-7D3D-14FA-97C6-E2389F7544C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FA237E6-8D6D-F3DF-2F81-6DBDA3352940}"/>
              </a:ext>
            </a:extLst>
          </p:cNvPr>
          <p:cNvSpPr>
            <a:spLocks noGrp="1"/>
          </p:cNvSpPr>
          <p:nvPr>
            <p:ph type="sldNum" sz="quarter" idx="10"/>
          </p:nvPr>
        </p:nvSpPr>
        <p:spPr/>
        <p:txBody>
          <a:bodyPr/>
          <a:lstStyle/>
          <a:p>
            <a:fld id="{B2A64216-7571-4F55-B8A0-A9B09CAD06D6}" type="slidenum">
              <a:rPr lang="zh-CN" altLang="en-US" smtClean="0"/>
              <a:t>20</a:t>
            </a:fld>
            <a:endParaRPr lang="zh-CN" altLang="en-US"/>
          </a:p>
        </p:txBody>
      </p:sp>
    </p:spTree>
    <p:extLst>
      <p:ext uri="{BB962C8B-B14F-4D97-AF65-F5344CB8AC3E}">
        <p14:creationId xmlns:p14="http://schemas.microsoft.com/office/powerpoint/2010/main" val="2759815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60AB1-8FA4-87D2-3E15-C90108AFBB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2AB4748-1683-EDEC-0874-EE693ABDBE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4B63F6-6179-FAE1-CFA2-70EB7330AE1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0963744-E7B4-39C6-1A38-9EE4622D807A}"/>
              </a:ext>
            </a:extLst>
          </p:cNvPr>
          <p:cNvSpPr>
            <a:spLocks noGrp="1"/>
          </p:cNvSpPr>
          <p:nvPr>
            <p:ph type="sldNum" sz="quarter" idx="10"/>
          </p:nvPr>
        </p:nvSpPr>
        <p:spPr/>
        <p:txBody>
          <a:bodyPr/>
          <a:lstStyle/>
          <a:p>
            <a:fld id="{B2A64216-7571-4F55-B8A0-A9B09CAD06D6}" type="slidenum">
              <a:rPr lang="zh-CN" altLang="en-US" smtClean="0"/>
              <a:t>21</a:t>
            </a:fld>
            <a:endParaRPr lang="zh-CN" altLang="en-US"/>
          </a:p>
        </p:txBody>
      </p:sp>
    </p:spTree>
    <p:extLst>
      <p:ext uri="{BB962C8B-B14F-4D97-AF65-F5344CB8AC3E}">
        <p14:creationId xmlns:p14="http://schemas.microsoft.com/office/powerpoint/2010/main" val="34500333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6C0C9-4974-563D-125B-14A4A6ABA9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4E7298-6003-795A-0455-9D00B0FFB5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B0E29C-2239-014A-1AB4-6480D324E51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4D2F723-B31E-1664-3F79-9F660F858421}"/>
              </a:ext>
            </a:extLst>
          </p:cNvPr>
          <p:cNvSpPr>
            <a:spLocks noGrp="1"/>
          </p:cNvSpPr>
          <p:nvPr>
            <p:ph type="sldNum" sz="quarter" idx="10"/>
          </p:nvPr>
        </p:nvSpPr>
        <p:spPr/>
        <p:txBody>
          <a:bodyPr/>
          <a:lstStyle/>
          <a:p>
            <a:fld id="{F1CB8912-F0BA-4AD8-8415-DA1F26BCB09F}" type="slidenum">
              <a:rPr lang="zh-CN" altLang="en-US" smtClean="0"/>
              <a:t>22</a:t>
            </a:fld>
            <a:endParaRPr lang="zh-CN" altLang="en-US"/>
          </a:p>
        </p:txBody>
      </p:sp>
    </p:spTree>
    <p:extLst>
      <p:ext uri="{BB962C8B-B14F-4D97-AF65-F5344CB8AC3E}">
        <p14:creationId xmlns:p14="http://schemas.microsoft.com/office/powerpoint/2010/main" val="36770278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F7BAC-CF90-CF80-4944-C5E5B73BFE2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795E08F-648B-85A7-26B0-A817EBD1DF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928404-012B-7C5A-7D66-44F8BC06BA6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BECBE83-4DC7-A4CC-B40E-5B6BE5144140}"/>
              </a:ext>
            </a:extLst>
          </p:cNvPr>
          <p:cNvSpPr>
            <a:spLocks noGrp="1"/>
          </p:cNvSpPr>
          <p:nvPr>
            <p:ph type="sldNum" sz="quarter" idx="10"/>
          </p:nvPr>
        </p:nvSpPr>
        <p:spPr/>
        <p:txBody>
          <a:bodyPr/>
          <a:lstStyle/>
          <a:p>
            <a:fld id="{B2A64216-7571-4F55-B8A0-A9B09CAD06D6}" type="slidenum">
              <a:rPr lang="zh-CN" altLang="en-US" smtClean="0"/>
              <a:t>23</a:t>
            </a:fld>
            <a:endParaRPr lang="zh-CN" altLang="en-US"/>
          </a:p>
        </p:txBody>
      </p:sp>
    </p:spTree>
    <p:extLst>
      <p:ext uri="{BB962C8B-B14F-4D97-AF65-F5344CB8AC3E}">
        <p14:creationId xmlns:p14="http://schemas.microsoft.com/office/powerpoint/2010/main" val="1528304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79A77-9FFC-1D03-A962-6D18329672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5C85083-6A7B-62C7-A8BA-888C7000966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CF04B33-8385-E60C-452E-8B284DA9B94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89248E1-D462-9202-FE44-96ABE715CC3B}"/>
              </a:ext>
            </a:extLst>
          </p:cNvPr>
          <p:cNvSpPr>
            <a:spLocks noGrp="1"/>
          </p:cNvSpPr>
          <p:nvPr>
            <p:ph type="sldNum" sz="quarter" idx="10"/>
          </p:nvPr>
        </p:nvSpPr>
        <p:spPr/>
        <p:txBody>
          <a:bodyPr/>
          <a:lstStyle/>
          <a:p>
            <a:fld id="{B2A64216-7571-4F55-B8A0-A9B09CAD06D6}" type="slidenum">
              <a:rPr lang="zh-CN" altLang="en-US" smtClean="0"/>
              <a:t>24</a:t>
            </a:fld>
            <a:endParaRPr lang="zh-CN" altLang="en-US"/>
          </a:p>
        </p:txBody>
      </p:sp>
    </p:spTree>
    <p:extLst>
      <p:ext uri="{BB962C8B-B14F-4D97-AF65-F5344CB8AC3E}">
        <p14:creationId xmlns:p14="http://schemas.microsoft.com/office/powerpoint/2010/main" val="8947112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F785F-35BB-719B-59BF-20B1D8EF84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AD2CC0-7BA6-2A2A-CE34-F9D4032AE4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6733BC-2BB9-7E4A-DF5A-67A25CF11D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21F7919-8FB0-345B-325A-A86294B81B25}"/>
              </a:ext>
            </a:extLst>
          </p:cNvPr>
          <p:cNvSpPr>
            <a:spLocks noGrp="1"/>
          </p:cNvSpPr>
          <p:nvPr>
            <p:ph type="sldNum" sz="quarter" idx="10"/>
          </p:nvPr>
        </p:nvSpPr>
        <p:spPr/>
        <p:txBody>
          <a:bodyPr/>
          <a:lstStyle/>
          <a:p>
            <a:fld id="{F1CB8912-F0BA-4AD8-8415-DA1F26BCB09F}" type="slidenum">
              <a:rPr lang="zh-CN" altLang="en-US" smtClean="0"/>
              <a:t>25</a:t>
            </a:fld>
            <a:endParaRPr lang="zh-CN" altLang="en-US"/>
          </a:p>
        </p:txBody>
      </p:sp>
    </p:spTree>
    <p:extLst>
      <p:ext uri="{BB962C8B-B14F-4D97-AF65-F5344CB8AC3E}">
        <p14:creationId xmlns:p14="http://schemas.microsoft.com/office/powerpoint/2010/main" val="3012531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79F9E-634F-7524-264C-48B9B2A164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D7CB83-DD21-37BC-3EB3-95B0141CE2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DD06D8B-6EAC-4F66-1DC6-12C73EE8343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7B39969-462B-AAC3-CE17-630355729F50}"/>
              </a:ext>
            </a:extLst>
          </p:cNvPr>
          <p:cNvSpPr>
            <a:spLocks noGrp="1"/>
          </p:cNvSpPr>
          <p:nvPr>
            <p:ph type="sldNum" sz="quarter" idx="10"/>
          </p:nvPr>
        </p:nvSpPr>
        <p:spPr/>
        <p:txBody>
          <a:bodyPr/>
          <a:lstStyle/>
          <a:p>
            <a:fld id="{B2A64216-7571-4F55-B8A0-A9B09CAD06D6}" type="slidenum">
              <a:rPr lang="zh-CN" altLang="en-US" smtClean="0"/>
              <a:t>26</a:t>
            </a:fld>
            <a:endParaRPr lang="zh-CN" altLang="en-US"/>
          </a:p>
        </p:txBody>
      </p:sp>
    </p:spTree>
    <p:extLst>
      <p:ext uri="{BB962C8B-B14F-4D97-AF65-F5344CB8AC3E}">
        <p14:creationId xmlns:p14="http://schemas.microsoft.com/office/powerpoint/2010/main" val="37054994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5D354-24C9-3D41-4B52-5E07650CF7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C5F6366-9A99-11AA-D241-B8F040F852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E524038-B3B6-1575-4A27-46AE323415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226B1D9-7EE8-B5B5-7860-3ED7FE1CFFD0}"/>
              </a:ext>
            </a:extLst>
          </p:cNvPr>
          <p:cNvSpPr>
            <a:spLocks noGrp="1"/>
          </p:cNvSpPr>
          <p:nvPr>
            <p:ph type="sldNum" sz="quarter" idx="10"/>
          </p:nvPr>
        </p:nvSpPr>
        <p:spPr/>
        <p:txBody>
          <a:bodyPr/>
          <a:lstStyle/>
          <a:p>
            <a:fld id="{B2A64216-7571-4F55-B8A0-A9B09CAD06D6}" type="slidenum">
              <a:rPr lang="zh-CN" altLang="en-US" smtClean="0"/>
              <a:t>27</a:t>
            </a:fld>
            <a:endParaRPr lang="zh-CN" altLang="en-US"/>
          </a:p>
        </p:txBody>
      </p:sp>
    </p:spTree>
    <p:extLst>
      <p:ext uri="{BB962C8B-B14F-4D97-AF65-F5344CB8AC3E}">
        <p14:creationId xmlns:p14="http://schemas.microsoft.com/office/powerpoint/2010/main" val="38005762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F35FF-2DC0-66C0-1838-6B570AEFF5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FF1258-5124-3D5E-992F-CE5BF11FB0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290368-5342-F47C-B8F2-3AF9EF9D19D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3A788F2-5B4F-1138-76DB-7FEA917D3F15}"/>
              </a:ext>
            </a:extLst>
          </p:cNvPr>
          <p:cNvSpPr>
            <a:spLocks noGrp="1"/>
          </p:cNvSpPr>
          <p:nvPr>
            <p:ph type="sldNum" sz="quarter" idx="10"/>
          </p:nvPr>
        </p:nvSpPr>
        <p:spPr/>
        <p:txBody>
          <a:bodyPr/>
          <a:lstStyle/>
          <a:p>
            <a:fld id="{B2A64216-7571-4F55-B8A0-A9B09CAD06D6}" type="slidenum">
              <a:rPr lang="zh-CN" altLang="en-US" smtClean="0"/>
              <a:t>28</a:t>
            </a:fld>
            <a:endParaRPr lang="zh-CN" altLang="en-US"/>
          </a:p>
        </p:txBody>
      </p:sp>
    </p:spTree>
    <p:extLst>
      <p:ext uri="{BB962C8B-B14F-4D97-AF65-F5344CB8AC3E}">
        <p14:creationId xmlns:p14="http://schemas.microsoft.com/office/powerpoint/2010/main" val="4056454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0258-1F0A-F918-2E10-D942215271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864C9F8-50FA-054C-BF9D-B536677669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BD67A1-A8E1-9604-0490-D5DF9585B51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22794EB-AE02-074D-AE20-1F2E27713EF0}"/>
              </a:ext>
            </a:extLst>
          </p:cNvPr>
          <p:cNvSpPr>
            <a:spLocks noGrp="1"/>
          </p:cNvSpPr>
          <p:nvPr>
            <p:ph type="sldNum" sz="quarter" idx="10"/>
          </p:nvPr>
        </p:nvSpPr>
        <p:spPr/>
        <p:txBody>
          <a:bodyPr/>
          <a:lstStyle/>
          <a:p>
            <a:fld id="{B2A64216-7571-4F55-B8A0-A9B09CAD06D6}" type="slidenum">
              <a:rPr lang="zh-CN" altLang="en-US" smtClean="0"/>
              <a:t>29</a:t>
            </a:fld>
            <a:endParaRPr lang="zh-CN" altLang="en-US"/>
          </a:p>
        </p:txBody>
      </p:sp>
    </p:spTree>
    <p:extLst>
      <p:ext uri="{BB962C8B-B14F-4D97-AF65-F5344CB8AC3E}">
        <p14:creationId xmlns:p14="http://schemas.microsoft.com/office/powerpoint/2010/main" val="25421195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AD2C2-9F3F-388B-9495-F70E22B041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9EC690-E472-AFC3-D577-E80E554540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F5E0FE-0F0A-B3E6-0BB3-A66B2AFB6DF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E13D6C4-BACE-2BDB-99A3-2B636E4A6DF1}"/>
              </a:ext>
            </a:extLst>
          </p:cNvPr>
          <p:cNvSpPr>
            <a:spLocks noGrp="1"/>
          </p:cNvSpPr>
          <p:nvPr>
            <p:ph type="sldNum" sz="quarter" idx="10"/>
          </p:nvPr>
        </p:nvSpPr>
        <p:spPr/>
        <p:txBody>
          <a:bodyPr/>
          <a:lstStyle/>
          <a:p>
            <a:fld id="{F1CB8912-F0BA-4AD8-8415-DA1F26BCB09F}" type="slidenum">
              <a:rPr lang="zh-CN" altLang="en-US" smtClean="0"/>
              <a:t>30</a:t>
            </a:fld>
            <a:endParaRPr lang="zh-CN" altLang="en-US"/>
          </a:p>
        </p:txBody>
      </p:sp>
    </p:spTree>
    <p:extLst>
      <p:ext uri="{BB962C8B-B14F-4D97-AF65-F5344CB8AC3E}">
        <p14:creationId xmlns:p14="http://schemas.microsoft.com/office/powerpoint/2010/main" val="392923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FF0EAC-093A-487A-84BB-5268A719D534}" type="slidenum">
              <a:rPr lang="zh-CN" altLang="en-US" smtClean="0"/>
              <a:t>‹#›</a:t>
            </a:fld>
            <a:endParaRPr lang="zh-CN" altLang="en-US"/>
          </a:p>
        </p:txBody>
      </p:sp>
    </p:spTree>
    <p:extLst>
      <p:ext uri="{BB962C8B-B14F-4D97-AF65-F5344CB8AC3E}">
        <p14:creationId xmlns:p14="http://schemas.microsoft.com/office/powerpoint/2010/main" val="4177684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2025/3/31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仅标题">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5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985519" y="1518470"/>
            <a:ext cx="3461834" cy="2221681"/>
          </a:xfrm>
          <a:custGeom>
            <a:avLst/>
            <a:gdLst>
              <a:gd name="connsiteX0" fmla="*/ 0 w 3461834"/>
              <a:gd name="connsiteY0" fmla="*/ 0 h 2221681"/>
              <a:gd name="connsiteX1" fmla="*/ 3461834 w 3461834"/>
              <a:gd name="connsiteY1" fmla="*/ 0 h 2221681"/>
              <a:gd name="connsiteX2" fmla="*/ 3461834 w 3461834"/>
              <a:gd name="connsiteY2" fmla="*/ 2221681 h 2221681"/>
              <a:gd name="connsiteX3" fmla="*/ 0 w 3461834"/>
              <a:gd name="connsiteY3" fmla="*/ 2221681 h 2221681"/>
            </a:gdLst>
            <a:ahLst/>
            <a:cxnLst>
              <a:cxn ang="0">
                <a:pos x="connsiteX0" y="connsiteY0"/>
              </a:cxn>
              <a:cxn ang="0">
                <a:pos x="connsiteX1" y="connsiteY1"/>
              </a:cxn>
              <a:cxn ang="0">
                <a:pos x="connsiteX2" y="connsiteY2"/>
              </a:cxn>
              <a:cxn ang="0">
                <a:pos x="connsiteX3" y="connsiteY3"/>
              </a:cxn>
            </a:cxnLst>
            <a:rect l="l" t="t" r="r" b="b"/>
            <a:pathLst>
              <a:path w="3461834" h="2221681">
                <a:moveTo>
                  <a:pt x="0" y="0"/>
                </a:moveTo>
                <a:lnTo>
                  <a:pt x="3461834" y="0"/>
                </a:lnTo>
                <a:lnTo>
                  <a:pt x="3461834" y="2221681"/>
                </a:lnTo>
                <a:lnTo>
                  <a:pt x="0" y="2221681"/>
                </a:lnTo>
                <a:close/>
              </a:path>
            </a:pathLst>
          </a:custGeom>
        </p:spPr>
        <p:txBody>
          <a:bodyPr wrap="square">
            <a:noAutofit/>
          </a:bodyPr>
          <a:lstStyle/>
          <a:p>
            <a:endParaRPr lang="zh-CN" altLang="en-US"/>
          </a:p>
        </p:txBody>
      </p:sp>
      <p:sp>
        <p:nvSpPr>
          <p:cNvPr id="8" name="图片占位符 7"/>
          <p:cNvSpPr>
            <a:spLocks noGrp="1"/>
          </p:cNvSpPr>
          <p:nvPr>
            <p:ph type="pic" sz="quarter" idx="11"/>
          </p:nvPr>
        </p:nvSpPr>
        <p:spPr>
          <a:xfrm>
            <a:off x="985519" y="3822700"/>
            <a:ext cx="3461832" cy="2211614"/>
          </a:xfrm>
          <a:custGeom>
            <a:avLst/>
            <a:gdLst>
              <a:gd name="connsiteX0" fmla="*/ 0 w 3461832"/>
              <a:gd name="connsiteY0" fmla="*/ 0 h 2211614"/>
              <a:gd name="connsiteX1" fmla="*/ 3461832 w 3461832"/>
              <a:gd name="connsiteY1" fmla="*/ 0 h 2211614"/>
              <a:gd name="connsiteX2" fmla="*/ 3461832 w 3461832"/>
              <a:gd name="connsiteY2" fmla="*/ 2211614 h 2211614"/>
              <a:gd name="connsiteX3" fmla="*/ 0 w 3461832"/>
              <a:gd name="connsiteY3" fmla="*/ 2211614 h 2211614"/>
            </a:gdLst>
            <a:ahLst/>
            <a:cxnLst>
              <a:cxn ang="0">
                <a:pos x="connsiteX0" y="connsiteY0"/>
              </a:cxn>
              <a:cxn ang="0">
                <a:pos x="connsiteX1" y="connsiteY1"/>
              </a:cxn>
              <a:cxn ang="0">
                <a:pos x="connsiteX2" y="connsiteY2"/>
              </a:cxn>
              <a:cxn ang="0">
                <a:pos x="connsiteX3" y="connsiteY3"/>
              </a:cxn>
            </a:cxnLst>
            <a:rect l="l" t="t" r="r" b="b"/>
            <a:pathLst>
              <a:path w="3461832" h="2211614">
                <a:moveTo>
                  <a:pt x="0" y="0"/>
                </a:moveTo>
                <a:lnTo>
                  <a:pt x="3461832" y="0"/>
                </a:lnTo>
                <a:lnTo>
                  <a:pt x="3461832" y="2211614"/>
                </a:lnTo>
                <a:lnTo>
                  <a:pt x="0" y="2211614"/>
                </a:lnTo>
                <a:close/>
              </a:path>
            </a:pathLst>
          </a:custGeom>
        </p:spPr>
        <p:txBody>
          <a:bodyPr wrap="square">
            <a:noAutofit/>
          </a:body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2025/3/31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99987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2025/3/31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5269787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94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阿里巴巴普惠体 M" panose="00020600040101010101" pitchFamily="18" charset="-122"/>
                <a:ea typeface="阿里巴巴普惠体 M" panose="00020600040101010101" pitchFamily="18" charset="-122"/>
              </a:defRPr>
            </a:lvl1pPr>
          </a:lstStyle>
          <a:p>
            <a:fld id="{C0C128AD-E0BD-45AD-BE26-E627024D0FC7}" type="datetimeFigureOut">
              <a:rPr lang="zh-CN" altLang="en-US" smtClean="0"/>
              <a:t>2025/3/31</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阿里巴巴普惠体 M" panose="00020600040101010101" pitchFamily="18" charset="-122"/>
                <a:ea typeface="阿里巴巴普惠体 M"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阿里巴巴普惠体 M" panose="00020600040101010101" pitchFamily="18" charset="-122"/>
                <a:ea typeface="阿里巴巴普惠体 M" panose="00020600040101010101" pitchFamily="18" charset="-122"/>
              </a:defRPr>
            </a:lvl1pPr>
          </a:lstStyle>
          <a:p>
            <a:fld id="{DCFF0EAC-093A-487A-84BB-5268A719D53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62"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阿里巴巴普惠体 L" panose="00020600040101010101" pitchFamily="18" charset="-122"/>
          <a:ea typeface="阿里巴巴普惠体 L"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阿里巴巴普惠体 M" panose="00020600040101010101" pitchFamily="18" charset="-122"/>
          <a:ea typeface="阿里巴巴普惠体 M"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阿里巴巴普惠体 M" panose="00020600040101010101" pitchFamily="18" charset="-122"/>
          <a:ea typeface="阿里巴巴普惠体 M"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阿里巴巴普惠体 M" panose="00020600040101010101" pitchFamily="18" charset="-122"/>
          <a:ea typeface="阿里巴巴普惠体 M"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普惠体 M" panose="00020600040101010101" pitchFamily="18" charset="-122"/>
          <a:ea typeface="阿里巴巴普惠体 M"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普惠体 M" panose="00020600040101010101" pitchFamily="18" charset="-122"/>
          <a:ea typeface="阿里巴巴普惠体 M"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21605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hyperlink" Target="https://www.kaggle.com/datasets/altruistdelhite04/loan-prediction-problem-dataset?resource=download&amp;select=train_u6lujuX_CVtuZ9i.csv"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任意多边形 28"/>
          <p:cNvSpPr/>
          <p:nvPr/>
        </p:nvSpPr>
        <p:spPr>
          <a:xfrm rot="2700000">
            <a:off x="9330371" y="916648"/>
            <a:ext cx="1420687" cy="1427783"/>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p:cNvSpPr/>
          <p:nvPr/>
        </p:nvSpPr>
        <p:spPr>
          <a:xfrm rot="2700000">
            <a:off x="3117460" y="-89875"/>
            <a:ext cx="7004023" cy="7037748"/>
          </a:xfrm>
          <a:custGeom>
            <a:avLst/>
            <a:gdLst>
              <a:gd name="connsiteX0" fmla="*/ 0 w 7004023"/>
              <a:gd name="connsiteY0" fmla="*/ 2171546 h 7037748"/>
              <a:gd name="connsiteX1" fmla="*/ 1740201 w 7004023"/>
              <a:gd name="connsiteY1" fmla="*/ 431345 h 7037748"/>
              <a:gd name="connsiteX2" fmla="*/ 1740202 w 7004023"/>
              <a:gd name="connsiteY2" fmla="*/ 431345 h 7037748"/>
              <a:gd name="connsiteX3" fmla="*/ 2171547 w 7004023"/>
              <a:gd name="connsiteY3" fmla="*/ 0 h 7037748"/>
              <a:gd name="connsiteX4" fmla="*/ 6358431 w 7004023"/>
              <a:gd name="connsiteY4" fmla="*/ 0 h 7037748"/>
              <a:gd name="connsiteX5" fmla="*/ 7004023 w 7004023"/>
              <a:gd name="connsiteY5" fmla="*/ 645592 h 7037748"/>
              <a:gd name="connsiteX6" fmla="*/ 7004022 w 7004023"/>
              <a:gd name="connsiteY6" fmla="*/ 4866202 h 7037748"/>
              <a:gd name="connsiteX7" fmla="*/ 5263822 w 7004023"/>
              <a:gd name="connsiteY7" fmla="*/ 6606403 h 7037748"/>
              <a:gd name="connsiteX8" fmla="*/ 5263822 w 7004023"/>
              <a:gd name="connsiteY8" fmla="*/ 6606401 h 7037748"/>
              <a:gd name="connsiteX9" fmla="*/ 4832475 w 7004023"/>
              <a:gd name="connsiteY9" fmla="*/ 7037748 h 7037748"/>
              <a:gd name="connsiteX10" fmla="*/ 4832474 w 7004023"/>
              <a:gd name="connsiteY10" fmla="*/ 2171546 h 703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4023" h="7037748">
                <a:moveTo>
                  <a:pt x="0" y="2171546"/>
                </a:moveTo>
                <a:lnTo>
                  <a:pt x="1740201" y="431345"/>
                </a:lnTo>
                <a:lnTo>
                  <a:pt x="1740202" y="431345"/>
                </a:lnTo>
                <a:lnTo>
                  <a:pt x="2171547" y="0"/>
                </a:lnTo>
                <a:lnTo>
                  <a:pt x="6358431" y="0"/>
                </a:lnTo>
                <a:cubicBezTo>
                  <a:pt x="6714981" y="0"/>
                  <a:pt x="7004023" y="289042"/>
                  <a:pt x="7004023" y="645592"/>
                </a:cubicBezTo>
                <a:lnTo>
                  <a:pt x="7004022" y="4866202"/>
                </a:lnTo>
                <a:lnTo>
                  <a:pt x="5263822" y="6606403"/>
                </a:lnTo>
                <a:lnTo>
                  <a:pt x="5263822" y="6606401"/>
                </a:lnTo>
                <a:lnTo>
                  <a:pt x="4832475" y="7037748"/>
                </a:lnTo>
                <a:lnTo>
                  <a:pt x="4832474" y="2171546"/>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任意多边形 21"/>
          <p:cNvSpPr/>
          <p:nvPr/>
        </p:nvSpPr>
        <p:spPr>
          <a:xfrm rot="2700000">
            <a:off x="6098536" y="2488658"/>
            <a:ext cx="4353560" cy="4231886"/>
          </a:xfrm>
          <a:custGeom>
            <a:avLst/>
            <a:gdLst>
              <a:gd name="connsiteX0" fmla="*/ 0 w 4353560"/>
              <a:gd name="connsiteY0" fmla="*/ 1105934 h 4231886"/>
              <a:gd name="connsiteX1" fmla="*/ 1105935 w 4353560"/>
              <a:gd name="connsiteY1" fmla="*/ 0 h 4231886"/>
              <a:gd name="connsiteX2" fmla="*/ 3943273 w 4353560"/>
              <a:gd name="connsiteY2" fmla="*/ 0 h 4231886"/>
              <a:gd name="connsiteX3" fmla="*/ 4353560 w 4353560"/>
              <a:gd name="connsiteY3" fmla="*/ 410287 h 4231886"/>
              <a:gd name="connsiteX4" fmla="*/ 4353560 w 4353560"/>
              <a:gd name="connsiteY4" fmla="*/ 3125951 h 4231886"/>
              <a:gd name="connsiteX5" fmla="*/ 3247625 w 4353560"/>
              <a:gd name="connsiteY5" fmla="*/ 4231886 h 4231886"/>
              <a:gd name="connsiteX6" fmla="*/ 3247625 w 4353560"/>
              <a:gd name="connsiteY6" fmla="*/ 1105934 h 423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3560" h="4231886">
                <a:moveTo>
                  <a:pt x="0" y="1105934"/>
                </a:moveTo>
                <a:lnTo>
                  <a:pt x="1105935" y="0"/>
                </a:lnTo>
                <a:lnTo>
                  <a:pt x="3943273" y="0"/>
                </a:lnTo>
                <a:cubicBezTo>
                  <a:pt x="4169868" y="0"/>
                  <a:pt x="4353560" y="183692"/>
                  <a:pt x="4353560" y="410287"/>
                </a:cubicBezTo>
                <a:lnTo>
                  <a:pt x="4353560" y="3125951"/>
                </a:lnTo>
                <a:lnTo>
                  <a:pt x="3247625" y="4231886"/>
                </a:lnTo>
                <a:lnTo>
                  <a:pt x="3247625" y="1105934"/>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p:cNvSpPr/>
          <p:nvPr/>
        </p:nvSpPr>
        <p:spPr>
          <a:xfrm rot="2700000">
            <a:off x="5271643" y="433691"/>
            <a:ext cx="4706557" cy="47300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文本框 22"/>
          <p:cNvSpPr txBox="1"/>
          <p:nvPr/>
        </p:nvSpPr>
        <p:spPr>
          <a:xfrm>
            <a:off x="914280" y="1879625"/>
            <a:ext cx="2459328" cy="461665"/>
          </a:xfrm>
          <a:prstGeom prst="rect">
            <a:avLst/>
          </a:prstGeom>
          <a:noFill/>
        </p:spPr>
        <p:txBody>
          <a:bodyPr wrap="none" rtlCol="0">
            <a:spAutoFit/>
            <a:scene3d>
              <a:camera prst="orthographicFront"/>
              <a:lightRig rig="threePt" dir="t"/>
            </a:scene3d>
            <a:sp3d contourW="12700"/>
          </a:bodyPr>
          <a:lstStyle/>
          <a:p>
            <a:r>
              <a:rPr lang="en-US" altLang="zh-CN" sz="2400" b="1" dirty="0">
                <a:solidFill>
                  <a:srgbClr val="5D999F"/>
                </a:solidFill>
                <a:cs typeface="+mn-ea"/>
                <a:sym typeface="+mn-lt"/>
              </a:rPr>
              <a:t>Midterm Report</a:t>
            </a:r>
            <a:endParaRPr lang="zh-CN" altLang="en-US" sz="2400" b="1" dirty="0">
              <a:solidFill>
                <a:srgbClr val="5D999F"/>
              </a:solidFill>
              <a:cs typeface="+mn-ea"/>
              <a:sym typeface="+mn-lt"/>
            </a:endParaRPr>
          </a:p>
        </p:txBody>
      </p:sp>
      <p:sp>
        <p:nvSpPr>
          <p:cNvPr id="24" name="文本框 23"/>
          <p:cNvSpPr txBox="1"/>
          <p:nvPr/>
        </p:nvSpPr>
        <p:spPr>
          <a:xfrm>
            <a:off x="897936" y="2422477"/>
            <a:ext cx="6916463" cy="2308324"/>
          </a:xfrm>
          <a:prstGeom prst="rect">
            <a:avLst/>
          </a:prstGeom>
          <a:noFill/>
        </p:spPr>
        <p:txBody>
          <a:bodyPr wrap="square" rtlCol="0">
            <a:spAutoFit/>
            <a:scene3d>
              <a:camera prst="orthographicFront"/>
              <a:lightRig rig="threePt" dir="t"/>
            </a:scene3d>
            <a:sp3d contourW="12700"/>
          </a:bodyPr>
          <a:lstStyle/>
          <a:p>
            <a:r>
              <a:rPr lang="en-US" altLang="zh-CN" sz="4800" b="1" dirty="0">
                <a:solidFill>
                  <a:schemeClr val="tx1">
                    <a:lumMod val="75000"/>
                    <a:lumOff val="25000"/>
                  </a:schemeClr>
                </a:solidFill>
                <a:cs typeface="+mn-ea"/>
                <a:sym typeface="+mn-lt"/>
              </a:rPr>
              <a:t>Loan Eligibility &amp; </a:t>
            </a:r>
          </a:p>
          <a:p>
            <a:r>
              <a:rPr lang="en-US" altLang="zh-CN" sz="4800" b="1" dirty="0">
                <a:solidFill>
                  <a:schemeClr val="tx1">
                    <a:lumMod val="75000"/>
                    <a:lumOff val="25000"/>
                  </a:schemeClr>
                </a:solidFill>
                <a:cs typeface="+mn-ea"/>
                <a:sym typeface="+mn-lt"/>
              </a:rPr>
              <a:t>Loan Amount Prediction</a:t>
            </a:r>
            <a:endParaRPr lang="zh-CN" altLang="en-US" sz="4800" b="1" dirty="0">
              <a:solidFill>
                <a:schemeClr val="tx1">
                  <a:lumMod val="75000"/>
                  <a:lumOff val="25000"/>
                </a:schemeClr>
              </a:solidFill>
              <a:cs typeface="+mn-ea"/>
              <a:sym typeface="+mn-lt"/>
            </a:endParaRPr>
          </a:p>
        </p:txBody>
      </p:sp>
      <p:grpSp>
        <p:nvGrpSpPr>
          <p:cNvPr id="26" name="组合 25"/>
          <p:cNvGrpSpPr/>
          <p:nvPr/>
        </p:nvGrpSpPr>
        <p:grpSpPr>
          <a:xfrm>
            <a:off x="4789797" y="5849975"/>
            <a:ext cx="2767734" cy="316802"/>
            <a:chOff x="1244534" y="3522134"/>
            <a:chExt cx="2767734" cy="316802"/>
          </a:xfrm>
          <a:solidFill>
            <a:srgbClr val="5D999F"/>
          </a:solidFill>
        </p:grpSpPr>
        <p:sp>
          <p:nvSpPr>
            <p:cNvPr id="27" name="矩形 26"/>
            <p:cNvSpPr/>
            <p:nvPr/>
          </p:nvSpPr>
          <p:spPr>
            <a:xfrm>
              <a:off x="1244534" y="3522134"/>
              <a:ext cx="2767734" cy="31680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文本框 27"/>
            <p:cNvSpPr txBox="1"/>
            <p:nvPr/>
          </p:nvSpPr>
          <p:spPr>
            <a:xfrm>
              <a:off x="1445812" y="3522134"/>
              <a:ext cx="2365178" cy="306705"/>
            </a:xfrm>
            <a:prstGeom prst="rect">
              <a:avLst/>
            </a:prstGeom>
            <a:noFill/>
          </p:spPr>
          <p:txBody>
            <a:bodyPr wrap="square" rtlCol="0">
              <a:spAutoFit/>
              <a:scene3d>
                <a:camera prst="orthographicFront"/>
                <a:lightRig rig="threePt" dir="t"/>
              </a:scene3d>
              <a:sp3d contourW="12700"/>
            </a:bodyPr>
            <a:lstStyle/>
            <a:p>
              <a:pPr algn="ctr"/>
              <a:r>
                <a:rPr lang="en-US" altLang="zh-CN" sz="1400" dirty="0">
                  <a:solidFill>
                    <a:schemeClr val="bg1"/>
                  </a:solidFill>
                  <a:cs typeface="+mn-ea"/>
                  <a:sym typeface="+mn-lt"/>
                </a:rPr>
                <a:t>Leyan Chen(U99402862)</a:t>
              </a:r>
            </a:p>
          </p:txBody>
        </p:sp>
      </p:grpSp>
      <p:sp>
        <p:nvSpPr>
          <p:cNvPr id="30" name="任意多边形 29"/>
          <p:cNvSpPr/>
          <p:nvPr/>
        </p:nvSpPr>
        <p:spPr>
          <a:xfrm rot="2700000">
            <a:off x="10732001" y="5932661"/>
            <a:ext cx="922260" cy="92686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2">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2" name="任意多边形 31"/>
          <p:cNvSpPr/>
          <p:nvPr/>
        </p:nvSpPr>
        <p:spPr>
          <a:xfrm rot="2700000">
            <a:off x="1301417" y="5457574"/>
            <a:ext cx="707075" cy="71060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3" name="任意多边形 32"/>
          <p:cNvSpPr/>
          <p:nvPr/>
        </p:nvSpPr>
        <p:spPr>
          <a:xfrm rot="2700000">
            <a:off x="4647436" y="484397"/>
            <a:ext cx="354223" cy="355992"/>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41" name="组合 40"/>
          <p:cNvGrpSpPr/>
          <p:nvPr/>
        </p:nvGrpSpPr>
        <p:grpSpPr>
          <a:xfrm>
            <a:off x="458272" y="546208"/>
            <a:ext cx="311151" cy="194270"/>
            <a:chOff x="207558" y="206734"/>
            <a:chExt cx="380545" cy="157163"/>
          </a:xfrm>
        </p:grpSpPr>
        <p:cxnSp>
          <p:nvCxnSpPr>
            <p:cNvPr id="35" name="直接连接符 34"/>
            <p:cNvCxnSpPr/>
            <p:nvPr/>
          </p:nvCxnSpPr>
          <p:spPr>
            <a:xfrm>
              <a:off x="207558" y="206734"/>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07558" y="285316"/>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07558" y="363897"/>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grpSp>
      <p:sp>
        <p:nvSpPr>
          <p:cNvPr id="42" name="文本框 41"/>
          <p:cNvSpPr txBox="1"/>
          <p:nvPr/>
        </p:nvSpPr>
        <p:spPr>
          <a:xfrm>
            <a:off x="966681" y="440800"/>
            <a:ext cx="3530455" cy="400110"/>
          </a:xfrm>
          <a:prstGeom prst="rect">
            <a:avLst/>
          </a:prstGeom>
          <a:noFill/>
        </p:spPr>
        <p:txBody>
          <a:bodyPr wrap="square" rtlCol="0">
            <a:spAutoFit/>
            <a:scene3d>
              <a:camera prst="orthographicFront"/>
              <a:lightRig rig="threePt" dir="t"/>
            </a:scene3d>
            <a:sp3d contourW="12700"/>
          </a:bodyPr>
          <a:lstStyle/>
          <a:p>
            <a:r>
              <a:rPr lang="en-US" altLang="zh-CN" sz="2000" dirty="0">
                <a:solidFill>
                  <a:schemeClr val="tx1">
                    <a:lumMod val="50000"/>
                    <a:lumOff val="50000"/>
                  </a:schemeClr>
                </a:solidFill>
                <a:cs typeface="+mn-ea"/>
                <a:sym typeface="+mn-lt"/>
              </a:rPr>
              <a:t>25Spring: CAS CS506</a:t>
            </a:r>
            <a:endParaRPr lang="zh-CN" altLang="en-US" sz="20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任意多边形 74"/>
          <p:cNvSpPr/>
          <p:nvPr/>
        </p:nvSpPr>
        <p:spPr>
          <a:xfrm rot="2700000">
            <a:off x="1128820" y="4853582"/>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1" name="任意多边形 40"/>
          <p:cNvSpPr/>
          <p:nvPr/>
        </p:nvSpPr>
        <p:spPr>
          <a:xfrm rot="2700000">
            <a:off x="10207380" y="562014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2" name="任意多边形 41"/>
          <p:cNvSpPr/>
          <p:nvPr/>
        </p:nvSpPr>
        <p:spPr>
          <a:xfrm rot="2700000">
            <a:off x="9939442" y="577304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任意多边形 37"/>
          <p:cNvSpPr/>
          <p:nvPr/>
        </p:nvSpPr>
        <p:spPr>
          <a:xfrm rot="2700000">
            <a:off x="-2123438" y="1891897"/>
            <a:ext cx="4407208" cy="4180467"/>
          </a:xfrm>
          <a:custGeom>
            <a:avLst/>
            <a:gdLst>
              <a:gd name="connsiteX0" fmla="*/ 0 w 4407208"/>
              <a:gd name="connsiteY0" fmla="*/ 2 h 4180467"/>
              <a:gd name="connsiteX1" fmla="*/ 3741330 w 4407208"/>
              <a:gd name="connsiteY1" fmla="*/ 0 h 4180467"/>
              <a:gd name="connsiteX2" fmla="*/ 4407208 w 4407208"/>
              <a:gd name="connsiteY2" fmla="*/ 665877 h 4180467"/>
              <a:gd name="connsiteX3" fmla="*/ 4407207 w 4407208"/>
              <a:gd name="connsiteY3" fmla="*/ 3953725 h 4180467"/>
              <a:gd name="connsiteX4" fmla="*/ 4180465 w 4407208"/>
              <a:gd name="connsiteY4" fmla="*/ 4180467 h 4180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7208" h="4180467">
                <a:moveTo>
                  <a:pt x="0" y="2"/>
                </a:moveTo>
                <a:lnTo>
                  <a:pt x="3741330" y="0"/>
                </a:lnTo>
                <a:cubicBezTo>
                  <a:pt x="4109083" y="1"/>
                  <a:pt x="4407207" y="298124"/>
                  <a:pt x="4407208" y="665877"/>
                </a:cubicBezTo>
                <a:lnTo>
                  <a:pt x="4407207" y="3953725"/>
                </a:lnTo>
                <a:lnTo>
                  <a:pt x="4180465" y="4180467"/>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1" name="任意多边形 30"/>
          <p:cNvSpPr/>
          <p:nvPr/>
        </p:nvSpPr>
        <p:spPr>
          <a:xfrm rot="8100000">
            <a:off x="557094" y="-1876742"/>
            <a:ext cx="4285281" cy="3973762"/>
          </a:xfrm>
          <a:custGeom>
            <a:avLst/>
            <a:gdLst>
              <a:gd name="connsiteX0" fmla="*/ 3973761 w 4285281"/>
              <a:gd name="connsiteY0" fmla="*/ 3973762 h 3973762"/>
              <a:gd name="connsiteX1" fmla="*/ 0 w 4285281"/>
              <a:gd name="connsiteY1" fmla="*/ 1 h 3973762"/>
              <a:gd name="connsiteX2" fmla="*/ 3733660 w 4285281"/>
              <a:gd name="connsiteY2" fmla="*/ 0 h 3973762"/>
              <a:gd name="connsiteX3" fmla="*/ 4285281 w 4285281"/>
              <a:gd name="connsiteY3" fmla="*/ 551621 h 3973762"/>
              <a:gd name="connsiteX4" fmla="*/ 4285281 w 4285281"/>
              <a:gd name="connsiteY4" fmla="*/ 3662241 h 397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85281" h="3973762">
                <a:moveTo>
                  <a:pt x="3973761" y="3973762"/>
                </a:moveTo>
                <a:lnTo>
                  <a:pt x="0" y="1"/>
                </a:lnTo>
                <a:lnTo>
                  <a:pt x="3733660" y="0"/>
                </a:lnTo>
                <a:cubicBezTo>
                  <a:pt x="4038311" y="1"/>
                  <a:pt x="4285281" y="246970"/>
                  <a:pt x="4285281" y="551621"/>
                </a:cubicBezTo>
                <a:lnTo>
                  <a:pt x="4285281" y="3662241"/>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70" name="组合 69"/>
          <p:cNvGrpSpPr/>
          <p:nvPr/>
        </p:nvGrpSpPr>
        <p:grpSpPr>
          <a:xfrm>
            <a:off x="5263148" y="1688698"/>
            <a:ext cx="3882316" cy="639854"/>
            <a:chOff x="5651362" y="1604422"/>
            <a:chExt cx="3882316" cy="639854"/>
          </a:xfrm>
        </p:grpSpPr>
        <p:sp>
          <p:nvSpPr>
            <p:cNvPr id="65" name="任意多边形 64"/>
            <p:cNvSpPr/>
            <p:nvPr/>
          </p:nvSpPr>
          <p:spPr>
            <a:xfrm rot="2700000">
              <a:off x="5652638" y="1603146"/>
              <a:ext cx="639854" cy="642405"/>
            </a:xfrm>
            <a:custGeom>
              <a:avLst/>
              <a:gdLst>
                <a:gd name="connsiteX0" fmla="*/ 490015 w 639854"/>
                <a:gd name="connsiteY0" fmla="*/ 139923 h 642405"/>
                <a:gd name="connsiteX1" fmla="*/ 497027 w 639854"/>
                <a:gd name="connsiteY1" fmla="*/ 142827 h 642405"/>
                <a:gd name="connsiteX2" fmla="*/ 499931 w 639854"/>
                <a:gd name="connsiteY2" fmla="*/ 149839 h 642405"/>
                <a:gd name="connsiteX3" fmla="*/ 499931 w 639854"/>
                <a:gd name="connsiteY3" fmla="*/ 139923 h 642405"/>
                <a:gd name="connsiteX4" fmla="*/ 0 w 639854"/>
                <a:gd name="connsiteY4" fmla="*/ 269028 h 642405"/>
                <a:gd name="connsiteX5" fmla="*/ 126280 w 639854"/>
                <a:gd name="connsiteY5" fmla="*/ 142749 h 642405"/>
                <a:gd name="connsiteX6" fmla="*/ 126280 w 639854"/>
                <a:gd name="connsiteY6" fmla="*/ 142749 h 642405"/>
                <a:gd name="connsiteX7" fmla="*/ 129106 w 639854"/>
                <a:gd name="connsiteY7" fmla="*/ 139923 h 642405"/>
                <a:gd name="connsiteX8" fmla="*/ 129106 w 639854"/>
                <a:gd name="connsiteY8" fmla="*/ 139923 h 642405"/>
                <a:gd name="connsiteX9" fmla="*/ 255385 w 639854"/>
                <a:gd name="connsiteY9" fmla="*/ 13643 h 642405"/>
                <a:gd name="connsiteX10" fmla="*/ 255386 w 639854"/>
                <a:gd name="connsiteY10" fmla="*/ 13643 h 642405"/>
                <a:gd name="connsiteX11" fmla="*/ 269029 w 639854"/>
                <a:gd name="connsiteY11" fmla="*/ 0 h 642405"/>
                <a:gd name="connsiteX12" fmla="*/ 593006 w 639854"/>
                <a:gd name="connsiteY12" fmla="*/ 0 h 642405"/>
                <a:gd name="connsiteX13" fmla="*/ 639854 w 639854"/>
                <a:gd name="connsiteY13" fmla="*/ 46848 h 642405"/>
                <a:gd name="connsiteX14" fmla="*/ 639854 w 639854"/>
                <a:gd name="connsiteY14" fmla="*/ 373376 h 642405"/>
                <a:gd name="connsiteX15" fmla="*/ 513574 w 639854"/>
                <a:gd name="connsiteY15" fmla="*/ 499656 h 642405"/>
                <a:gd name="connsiteX16" fmla="*/ 513575 w 639854"/>
                <a:gd name="connsiteY16" fmla="*/ 499655 h 642405"/>
                <a:gd name="connsiteX17" fmla="*/ 510748 w 639854"/>
                <a:gd name="connsiteY17" fmla="*/ 502482 h 642405"/>
                <a:gd name="connsiteX18" fmla="*/ 510748 w 639854"/>
                <a:gd name="connsiteY18" fmla="*/ 502482 h 642405"/>
                <a:gd name="connsiteX19" fmla="*/ 384469 w 639854"/>
                <a:gd name="connsiteY19" fmla="*/ 628762 h 642405"/>
                <a:gd name="connsiteX20" fmla="*/ 384469 w 639854"/>
                <a:gd name="connsiteY20" fmla="*/ 628761 h 642405"/>
                <a:gd name="connsiteX21" fmla="*/ 370825 w 639854"/>
                <a:gd name="connsiteY21" fmla="*/ 642405 h 642405"/>
                <a:gd name="connsiteX22" fmla="*/ 370825 w 639854"/>
                <a:gd name="connsiteY22" fmla="*/ 269028 h 64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9854" h="642405">
                  <a:moveTo>
                    <a:pt x="490015" y="139923"/>
                  </a:moveTo>
                  <a:lnTo>
                    <a:pt x="497027" y="142827"/>
                  </a:lnTo>
                  <a:lnTo>
                    <a:pt x="499931" y="149839"/>
                  </a:lnTo>
                  <a:lnTo>
                    <a:pt x="499931" y="139923"/>
                  </a:lnTo>
                  <a:close/>
                  <a:moveTo>
                    <a:pt x="0" y="269028"/>
                  </a:moveTo>
                  <a:lnTo>
                    <a:pt x="126280" y="142749"/>
                  </a:lnTo>
                  <a:lnTo>
                    <a:pt x="126280" y="142749"/>
                  </a:lnTo>
                  <a:lnTo>
                    <a:pt x="129106" y="139923"/>
                  </a:lnTo>
                  <a:lnTo>
                    <a:pt x="129106" y="139923"/>
                  </a:lnTo>
                  <a:lnTo>
                    <a:pt x="255385" y="13643"/>
                  </a:lnTo>
                  <a:lnTo>
                    <a:pt x="255386" y="13643"/>
                  </a:lnTo>
                  <a:lnTo>
                    <a:pt x="269029" y="0"/>
                  </a:lnTo>
                  <a:lnTo>
                    <a:pt x="593006" y="0"/>
                  </a:lnTo>
                  <a:cubicBezTo>
                    <a:pt x="618879" y="0"/>
                    <a:pt x="639854" y="20975"/>
                    <a:pt x="639854" y="46848"/>
                  </a:cubicBezTo>
                  <a:lnTo>
                    <a:pt x="639854" y="373376"/>
                  </a:lnTo>
                  <a:lnTo>
                    <a:pt x="513574" y="499656"/>
                  </a:lnTo>
                  <a:lnTo>
                    <a:pt x="513575" y="499655"/>
                  </a:lnTo>
                  <a:lnTo>
                    <a:pt x="510748" y="502482"/>
                  </a:lnTo>
                  <a:lnTo>
                    <a:pt x="510748" y="502482"/>
                  </a:lnTo>
                  <a:lnTo>
                    <a:pt x="384469" y="628762"/>
                  </a:lnTo>
                  <a:lnTo>
                    <a:pt x="384469" y="628761"/>
                  </a:lnTo>
                  <a:lnTo>
                    <a:pt x="370825" y="642405"/>
                  </a:lnTo>
                  <a:lnTo>
                    <a:pt x="370825" y="269028"/>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4" name="文本框 43"/>
            <p:cNvSpPr txBox="1"/>
            <p:nvPr/>
          </p:nvSpPr>
          <p:spPr>
            <a:xfrm>
              <a:off x="6433149" y="1703015"/>
              <a:ext cx="3100529"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3"/>
                  </a:solidFill>
                  <a:cs typeface="+mn-ea"/>
                  <a:sym typeface="+mn-lt"/>
                </a:rPr>
                <a:t>Project Overview</a:t>
              </a:r>
              <a:endParaRPr lang="zh-CN" altLang="en-US" sz="2800" b="1" dirty="0">
                <a:solidFill>
                  <a:schemeClr val="accent3"/>
                </a:solidFill>
                <a:cs typeface="+mn-ea"/>
                <a:sym typeface="+mn-lt"/>
              </a:endParaRPr>
            </a:p>
          </p:txBody>
        </p:sp>
        <p:sp>
          <p:nvSpPr>
            <p:cNvPr id="47" name="文本框 46"/>
            <p:cNvSpPr txBox="1"/>
            <p:nvPr/>
          </p:nvSpPr>
          <p:spPr>
            <a:xfrm>
              <a:off x="5978010" y="1693626"/>
              <a:ext cx="356188" cy="461665"/>
            </a:xfrm>
            <a:prstGeom prst="rect">
              <a:avLst/>
            </a:prstGeom>
            <a:noFill/>
          </p:spPr>
          <p:txBody>
            <a:bodyPr wrap="none" rtlCol="0">
              <a:spAutoFit/>
              <a:scene3d>
                <a:camera prst="orthographicFront"/>
                <a:lightRig rig="threePt" dir="t"/>
              </a:scene3d>
              <a:sp3d contourW="12700"/>
            </a:bodyPr>
            <a:lstStyle/>
            <a:p>
              <a:pPr algn="ctr"/>
              <a:r>
                <a:rPr lang="en-US" altLang="zh-CN" sz="2400" b="1" i="1" dirty="0">
                  <a:solidFill>
                    <a:schemeClr val="bg1"/>
                  </a:solidFill>
                  <a:cs typeface="+mn-ea"/>
                  <a:sym typeface="+mn-lt"/>
                </a:rPr>
                <a:t>1</a:t>
              </a:r>
              <a:endParaRPr lang="zh-CN" altLang="en-US" sz="2400" b="1" i="1" dirty="0">
                <a:solidFill>
                  <a:schemeClr val="bg1"/>
                </a:solidFill>
                <a:cs typeface="+mn-ea"/>
                <a:sym typeface="+mn-lt"/>
              </a:endParaRPr>
            </a:p>
          </p:txBody>
        </p:sp>
      </p:grpSp>
      <p:grpSp>
        <p:nvGrpSpPr>
          <p:cNvPr id="72" name="组合 71"/>
          <p:cNvGrpSpPr/>
          <p:nvPr/>
        </p:nvGrpSpPr>
        <p:grpSpPr>
          <a:xfrm>
            <a:off x="5263149" y="2711242"/>
            <a:ext cx="3312735" cy="639854"/>
            <a:chOff x="5651363" y="2580744"/>
            <a:chExt cx="3312735" cy="639854"/>
          </a:xfrm>
        </p:grpSpPr>
        <p:sp>
          <p:nvSpPr>
            <p:cNvPr id="66" name="任意多边形 65"/>
            <p:cNvSpPr/>
            <p:nvPr/>
          </p:nvSpPr>
          <p:spPr>
            <a:xfrm rot="2700000">
              <a:off x="5652639" y="2579468"/>
              <a:ext cx="639854" cy="642405"/>
            </a:xfrm>
            <a:custGeom>
              <a:avLst/>
              <a:gdLst>
                <a:gd name="connsiteX0" fmla="*/ 490015 w 639854"/>
                <a:gd name="connsiteY0" fmla="*/ 139923 h 642405"/>
                <a:gd name="connsiteX1" fmla="*/ 497027 w 639854"/>
                <a:gd name="connsiteY1" fmla="*/ 142827 h 642405"/>
                <a:gd name="connsiteX2" fmla="*/ 499931 w 639854"/>
                <a:gd name="connsiteY2" fmla="*/ 149839 h 642405"/>
                <a:gd name="connsiteX3" fmla="*/ 499931 w 639854"/>
                <a:gd name="connsiteY3" fmla="*/ 139923 h 642405"/>
                <a:gd name="connsiteX4" fmla="*/ 0 w 639854"/>
                <a:gd name="connsiteY4" fmla="*/ 269028 h 642405"/>
                <a:gd name="connsiteX5" fmla="*/ 126280 w 639854"/>
                <a:gd name="connsiteY5" fmla="*/ 142749 h 642405"/>
                <a:gd name="connsiteX6" fmla="*/ 126280 w 639854"/>
                <a:gd name="connsiteY6" fmla="*/ 142749 h 642405"/>
                <a:gd name="connsiteX7" fmla="*/ 129106 w 639854"/>
                <a:gd name="connsiteY7" fmla="*/ 139923 h 642405"/>
                <a:gd name="connsiteX8" fmla="*/ 129106 w 639854"/>
                <a:gd name="connsiteY8" fmla="*/ 139923 h 642405"/>
                <a:gd name="connsiteX9" fmla="*/ 255385 w 639854"/>
                <a:gd name="connsiteY9" fmla="*/ 13643 h 642405"/>
                <a:gd name="connsiteX10" fmla="*/ 255386 w 639854"/>
                <a:gd name="connsiteY10" fmla="*/ 13643 h 642405"/>
                <a:gd name="connsiteX11" fmla="*/ 269029 w 639854"/>
                <a:gd name="connsiteY11" fmla="*/ 0 h 642405"/>
                <a:gd name="connsiteX12" fmla="*/ 593006 w 639854"/>
                <a:gd name="connsiteY12" fmla="*/ 0 h 642405"/>
                <a:gd name="connsiteX13" fmla="*/ 639854 w 639854"/>
                <a:gd name="connsiteY13" fmla="*/ 46848 h 642405"/>
                <a:gd name="connsiteX14" fmla="*/ 639854 w 639854"/>
                <a:gd name="connsiteY14" fmla="*/ 373376 h 642405"/>
                <a:gd name="connsiteX15" fmla="*/ 513574 w 639854"/>
                <a:gd name="connsiteY15" fmla="*/ 499656 h 642405"/>
                <a:gd name="connsiteX16" fmla="*/ 513575 w 639854"/>
                <a:gd name="connsiteY16" fmla="*/ 499655 h 642405"/>
                <a:gd name="connsiteX17" fmla="*/ 510748 w 639854"/>
                <a:gd name="connsiteY17" fmla="*/ 502482 h 642405"/>
                <a:gd name="connsiteX18" fmla="*/ 510748 w 639854"/>
                <a:gd name="connsiteY18" fmla="*/ 502482 h 642405"/>
                <a:gd name="connsiteX19" fmla="*/ 384469 w 639854"/>
                <a:gd name="connsiteY19" fmla="*/ 628762 h 642405"/>
                <a:gd name="connsiteX20" fmla="*/ 384469 w 639854"/>
                <a:gd name="connsiteY20" fmla="*/ 628761 h 642405"/>
                <a:gd name="connsiteX21" fmla="*/ 370825 w 639854"/>
                <a:gd name="connsiteY21" fmla="*/ 642405 h 642405"/>
                <a:gd name="connsiteX22" fmla="*/ 370825 w 639854"/>
                <a:gd name="connsiteY22" fmla="*/ 269028 h 64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9854" h="642405">
                  <a:moveTo>
                    <a:pt x="490015" y="139923"/>
                  </a:moveTo>
                  <a:lnTo>
                    <a:pt x="497027" y="142827"/>
                  </a:lnTo>
                  <a:lnTo>
                    <a:pt x="499931" y="149839"/>
                  </a:lnTo>
                  <a:lnTo>
                    <a:pt x="499931" y="139923"/>
                  </a:lnTo>
                  <a:close/>
                  <a:moveTo>
                    <a:pt x="0" y="269028"/>
                  </a:moveTo>
                  <a:lnTo>
                    <a:pt x="126280" y="142749"/>
                  </a:lnTo>
                  <a:lnTo>
                    <a:pt x="126280" y="142749"/>
                  </a:lnTo>
                  <a:lnTo>
                    <a:pt x="129106" y="139923"/>
                  </a:lnTo>
                  <a:lnTo>
                    <a:pt x="129106" y="139923"/>
                  </a:lnTo>
                  <a:lnTo>
                    <a:pt x="255385" y="13643"/>
                  </a:lnTo>
                  <a:lnTo>
                    <a:pt x="255386" y="13643"/>
                  </a:lnTo>
                  <a:lnTo>
                    <a:pt x="269029" y="0"/>
                  </a:lnTo>
                  <a:lnTo>
                    <a:pt x="593006" y="0"/>
                  </a:lnTo>
                  <a:cubicBezTo>
                    <a:pt x="618879" y="0"/>
                    <a:pt x="639854" y="20975"/>
                    <a:pt x="639854" y="46848"/>
                  </a:cubicBezTo>
                  <a:lnTo>
                    <a:pt x="639854" y="373376"/>
                  </a:lnTo>
                  <a:lnTo>
                    <a:pt x="513574" y="499656"/>
                  </a:lnTo>
                  <a:lnTo>
                    <a:pt x="513575" y="499655"/>
                  </a:lnTo>
                  <a:lnTo>
                    <a:pt x="510748" y="502482"/>
                  </a:lnTo>
                  <a:lnTo>
                    <a:pt x="510748" y="502482"/>
                  </a:lnTo>
                  <a:lnTo>
                    <a:pt x="384469" y="628762"/>
                  </a:lnTo>
                  <a:lnTo>
                    <a:pt x="384469" y="628761"/>
                  </a:lnTo>
                  <a:lnTo>
                    <a:pt x="370825" y="642405"/>
                  </a:lnTo>
                  <a:lnTo>
                    <a:pt x="370825" y="269028"/>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71" name="组合 70"/>
            <p:cNvGrpSpPr/>
            <p:nvPr/>
          </p:nvGrpSpPr>
          <p:grpSpPr>
            <a:xfrm>
              <a:off x="5978010" y="2669947"/>
              <a:ext cx="2986088" cy="532609"/>
              <a:chOff x="5978010" y="2669947"/>
              <a:chExt cx="2986088" cy="532609"/>
            </a:xfrm>
          </p:grpSpPr>
          <p:sp>
            <p:nvSpPr>
              <p:cNvPr id="49" name="文本框 48"/>
              <p:cNvSpPr txBox="1"/>
              <p:nvPr/>
            </p:nvSpPr>
            <p:spPr>
              <a:xfrm>
                <a:off x="6433149" y="2679336"/>
                <a:ext cx="2530949"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3"/>
                    </a:solidFill>
                    <a:cs typeface="+mn-ea"/>
                    <a:sym typeface="+mn-lt"/>
                  </a:rPr>
                  <a:t>Data Analysis</a:t>
                </a:r>
                <a:endParaRPr lang="zh-CN" altLang="en-US" sz="2800" b="1" dirty="0">
                  <a:solidFill>
                    <a:schemeClr val="accent3"/>
                  </a:solidFill>
                  <a:cs typeface="+mn-ea"/>
                  <a:sym typeface="+mn-lt"/>
                </a:endParaRPr>
              </a:p>
            </p:txBody>
          </p:sp>
          <p:sp>
            <p:nvSpPr>
              <p:cNvPr id="52" name="文本框 51"/>
              <p:cNvSpPr txBox="1"/>
              <p:nvPr/>
            </p:nvSpPr>
            <p:spPr>
              <a:xfrm>
                <a:off x="5978010" y="2669947"/>
                <a:ext cx="356188" cy="461665"/>
              </a:xfrm>
              <a:prstGeom prst="rect">
                <a:avLst/>
              </a:prstGeom>
              <a:noFill/>
            </p:spPr>
            <p:txBody>
              <a:bodyPr wrap="none" rtlCol="0">
                <a:spAutoFit/>
                <a:scene3d>
                  <a:camera prst="orthographicFront"/>
                  <a:lightRig rig="threePt" dir="t"/>
                </a:scene3d>
                <a:sp3d contourW="12700"/>
              </a:bodyPr>
              <a:lstStyle/>
              <a:p>
                <a:pPr algn="ctr"/>
                <a:r>
                  <a:rPr lang="en-US" altLang="zh-CN" sz="2400" b="1" i="1" dirty="0">
                    <a:solidFill>
                      <a:schemeClr val="bg1"/>
                    </a:solidFill>
                    <a:cs typeface="+mn-ea"/>
                    <a:sym typeface="+mn-lt"/>
                  </a:rPr>
                  <a:t>2</a:t>
                </a:r>
                <a:endParaRPr lang="zh-CN" altLang="en-US" sz="2400" b="1" i="1" dirty="0">
                  <a:solidFill>
                    <a:schemeClr val="bg1"/>
                  </a:solidFill>
                  <a:cs typeface="+mn-ea"/>
                  <a:sym typeface="+mn-lt"/>
                </a:endParaRPr>
              </a:p>
            </p:txBody>
          </p:sp>
        </p:grpSp>
      </p:grpSp>
      <p:grpSp>
        <p:nvGrpSpPr>
          <p:cNvPr id="73" name="组合 72"/>
          <p:cNvGrpSpPr/>
          <p:nvPr/>
        </p:nvGrpSpPr>
        <p:grpSpPr>
          <a:xfrm>
            <a:off x="5263149" y="3733785"/>
            <a:ext cx="3784531" cy="639854"/>
            <a:chOff x="5651363" y="3557063"/>
            <a:chExt cx="3784531" cy="639854"/>
          </a:xfrm>
        </p:grpSpPr>
        <p:sp>
          <p:nvSpPr>
            <p:cNvPr id="67" name="任意多边形 66"/>
            <p:cNvSpPr/>
            <p:nvPr/>
          </p:nvSpPr>
          <p:spPr>
            <a:xfrm rot="2700000">
              <a:off x="5652639" y="3555787"/>
              <a:ext cx="639854" cy="642405"/>
            </a:xfrm>
            <a:custGeom>
              <a:avLst/>
              <a:gdLst>
                <a:gd name="connsiteX0" fmla="*/ 490015 w 639854"/>
                <a:gd name="connsiteY0" fmla="*/ 139923 h 642405"/>
                <a:gd name="connsiteX1" fmla="*/ 497027 w 639854"/>
                <a:gd name="connsiteY1" fmla="*/ 142827 h 642405"/>
                <a:gd name="connsiteX2" fmla="*/ 499931 w 639854"/>
                <a:gd name="connsiteY2" fmla="*/ 149839 h 642405"/>
                <a:gd name="connsiteX3" fmla="*/ 499931 w 639854"/>
                <a:gd name="connsiteY3" fmla="*/ 139923 h 642405"/>
                <a:gd name="connsiteX4" fmla="*/ 0 w 639854"/>
                <a:gd name="connsiteY4" fmla="*/ 269028 h 642405"/>
                <a:gd name="connsiteX5" fmla="*/ 126280 w 639854"/>
                <a:gd name="connsiteY5" fmla="*/ 142749 h 642405"/>
                <a:gd name="connsiteX6" fmla="*/ 126280 w 639854"/>
                <a:gd name="connsiteY6" fmla="*/ 142749 h 642405"/>
                <a:gd name="connsiteX7" fmla="*/ 129106 w 639854"/>
                <a:gd name="connsiteY7" fmla="*/ 139923 h 642405"/>
                <a:gd name="connsiteX8" fmla="*/ 129106 w 639854"/>
                <a:gd name="connsiteY8" fmla="*/ 139923 h 642405"/>
                <a:gd name="connsiteX9" fmla="*/ 255385 w 639854"/>
                <a:gd name="connsiteY9" fmla="*/ 13643 h 642405"/>
                <a:gd name="connsiteX10" fmla="*/ 255386 w 639854"/>
                <a:gd name="connsiteY10" fmla="*/ 13643 h 642405"/>
                <a:gd name="connsiteX11" fmla="*/ 269029 w 639854"/>
                <a:gd name="connsiteY11" fmla="*/ 0 h 642405"/>
                <a:gd name="connsiteX12" fmla="*/ 593006 w 639854"/>
                <a:gd name="connsiteY12" fmla="*/ 0 h 642405"/>
                <a:gd name="connsiteX13" fmla="*/ 639854 w 639854"/>
                <a:gd name="connsiteY13" fmla="*/ 46848 h 642405"/>
                <a:gd name="connsiteX14" fmla="*/ 639854 w 639854"/>
                <a:gd name="connsiteY14" fmla="*/ 373376 h 642405"/>
                <a:gd name="connsiteX15" fmla="*/ 513574 w 639854"/>
                <a:gd name="connsiteY15" fmla="*/ 499656 h 642405"/>
                <a:gd name="connsiteX16" fmla="*/ 513575 w 639854"/>
                <a:gd name="connsiteY16" fmla="*/ 499655 h 642405"/>
                <a:gd name="connsiteX17" fmla="*/ 510748 w 639854"/>
                <a:gd name="connsiteY17" fmla="*/ 502482 h 642405"/>
                <a:gd name="connsiteX18" fmla="*/ 510748 w 639854"/>
                <a:gd name="connsiteY18" fmla="*/ 502482 h 642405"/>
                <a:gd name="connsiteX19" fmla="*/ 384469 w 639854"/>
                <a:gd name="connsiteY19" fmla="*/ 628762 h 642405"/>
                <a:gd name="connsiteX20" fmla="*/ 384469 w 639854"/>
                <a:gd name="connsiteY20" fmla="*/ 628761 h 642405"/>
                <a:gd name="connsiteX21" fmla="*/ 370825 w 639854"/>
                <a:gd name="connsiteY21" fmla="*/ 642405 h 642405"/>
                <a:gd name="connsiteX22" fmla="*/ 370825 w 639854"/>
                <a:gd name="connsiteY22" fmla="*/ 269028 h 64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9854" h="642405">
                  <a:moveTo>
                    <a:pt x="490015" y="139923"/>
                  </a:moveTo>
                  <a:lnTo>
                    <a:pt x="497027" y="142827"/>
                  </a:lnTo>
                  <a:lnTo>
                    <a:pt x="499931" y="149839"/>
                  </a:lnTo>
                  <a:lnTo>
                    <a:pt x="499931" y="139923"/>
                  </a:lnTo>
                  <a:close/>
                  <a:moveTo>
                    <a:pt x="0" y="269028"/>
                  </a:moveTo>
                  <a:lnTo>
                    <a:pt x="126280" y="142749"/>
                  </a:lnTo>
                  <a:lnTo>
                    <a:pt x="126280" y="142749"/>
                  </a:lnTo>
                  <a:lnTo>
                    <a:pt x="129106" y="139923"/>
                  </a:lnTo>
                  <a:lnTo>
                    <a:pt x="129106" y="139923"/>
                  </a:lnTo>
                  <a:lnTo>
                    <a:pt x="255385" y="13643"/>
                  </a:lnTo>
                  <a:lnTo>
                    <a:pt x="255386" y="13643"/>
                  </a:lnTo>
                  <a:lnTo>
                    <a:pt x="269029" y="0"/>
                  </a:lnTo>
                  <a:lnTo>
                    <a:pt x="593006" y="0"/>
                  </a:lnTo>
                  <a:cubicBezTo>
                    <a:pt x="618879" y="0"/>
                    <a:pt x="639854" y="20975"/>
                    <a:pt x="639854" y="46848"/>
                  </a:cubicBezTo>
                  <a:lnTo>
                    <a:pt x="639854" y="373376"/>
                  </a:lnTo>
                  <a:lnTo>
                    <a:pt x="513574" y="499656"/>
                  </a:lnTo>
                  <a:lnTo>
                    <a:pt x="513575" y="499655"/>
                  </a:lnTo>
                  <a:lnTo>
                    <a:pt x="510748" y="502482"/>
                  </a:lnTo>
                  <a:lnTo>
                    <a:pt x="510748" y="502482"/>
                  </a:lnTo>
                  <a:lnTo>
                    <a:pt x="384469" y="628762"/>
                  </a:lnTo>
                  <a:lnTo>
                    <a:pt x="384469" y="628761"/>
                  </a:lnTo>
                  <a:lnTo>
                    <a:pt x="370825" y="642405"/>
                  </a:lnTo>
                  <a:lnTo>
                    <a:pt x="370825" y="269028"/>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4" name="文本框 53"/>
            <p:cNvSpPr txBox="1"/>
            <p:nvPr/>
          </p:nvSpPr>
          <p:spPr>
            <a:xfrm>
              <a:off x="6433149" y="3655657"/>
              <a:ext cx="3002745"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3"/>
                  </a:solidFill>
                  <a:cs typeface="+mn-ea"/>
                  <a:sym typeface="+mn-lt"/>
                </a:rPr>
                <a:t>Data Processing</a:t>
              </a:r>
              <a:endParaRPr lang="zh-CN" altLang="en-US" sz="2800" b="1" dirty="0">
                <a:solidFill>
                  <a:schemeClr val="accent3"/>
                </a:solidFill>
                <a:cs typeface="+mn-ea"/>
                <a:sym typeface="+mn-lt"/>
              </a:endParaRPr>
            </a:p>
          </p:txBody>
        </p:sp>
        <p:sp>
          <p:nvSpPr>
            <p:cNvPr id="57" name="文本框 56"/>
            <p:cNvSpPr txBox="1"/>
            <p:nvPr/>
          </p:nvSpPr>
          <p:spPr>
            <a:xfrm>
              <a:off x="5978010" y="3646268"/>
              <a:ext cx="356188" cy="461665"/>
            </a:xfrm>
            <a:prstGeom prst="rect">
              <a:avLst/>
            </a:prstGeom>
            <a:noFill/>
          </p:spPr>
          <p:txBody>
            <a:bodyPr wrap="none" rtlCol="0">
              <a:spAutoFit/>
              <a:scene3d>
                <a:camera prst="orthographicFront"/>
                <a:lightRig rig="threePt" dir="t"/>
              </a:scene3d>
              <a:sp3d contourW="12700"/>
            </a:bodyPr>
            <a:lstStyle/>
            <a:p>
              <a:pPr algn="ctr"/>
              <a:r>
                <a:rPr lang="en-US" altLang="zh-CN" sz="2400" b="1" i="1" dirty="0">
                  <a:solidFill>
                    <a:schemeClr val="bg1"/>
                  </a:solidFill>
                  <a:cs typeface="+mn-ea"/>
                  <a:sym typeface="+mn-lt"/>
                </a:rPr>
                <a:t>3</a:t>
              </a:r>
              <a:endParaRPr lang="zh-CN" altLang="en-US" sz="2400" b="1" i="1" dirty="0">
                <a:solidFill>
                  <a:schemeClr val="bg1"/>
                </a:solidFill>
                <a:cs typeface="+mn-ea"/>
                <a:sym typeface="+mn-lt"/>
              </a:endParaRPr>
            </a:p>
          </p:txBody>
        </p:sp>
      </p:grpSp>
      <p:grpSp>
        <p:nvGrpSpPr>
          <p:cNvPr id="74" name="组合 73"/>
          <p:cNvGrpSpPr/>
          <p:nvPr/>
        </p:nvGrpSpPr>
        <p:grpSpPr>
          <a:xfrm>
            <a:off x="5263149" y="4756329"/>
            <a:ext cx="3423856" cy="639854"/>
            <a:chOff x="5651363" y="4539374"/>
            <a:chExt cx="3423856" cy="639854"/>
          </a:xfrm>
        </p:grpSpPr>
        <p:sp>
          <p:nvSpPr>
            <p:cNvPr id="68" name="任意多边形 67"/>
            <p:cNvSpPr/>
            <p:nvPr/>
          </p:nvSpPr>
          <p:spPr>
            <a:xfrm rot="2700000">
              <a:off x="5652639" y="4538098"/>
              <a:ext cx="639854" cy="642405"/>
            </a:xfrm>
            <a:custGeom>
              <a:avLst/>
              <a:gdLst>
                <a:gd name="connsiteX0" fmla="*/ 490015 w 639854"/>
                <a:gd name="connsiteY0" fmla="*/ 139923 h 642405"/>
                <a:gd name="connsiteX1" fmla="*/ 497027 w 639854"/>
                <a:gd name="connsiteY1" fmla="*/ 142827 h 642405"/>
                <a:gd name="connsiteX2" fmla="*/ 499931 w 639854"/>
                <a:gd name="connsiteY2" fmla="*/ 149839 h 642405"/>
                <a:gd name="connsiteX3" fmla="*/ 499931 w 639854"/>
                <a:gd name="connsiteY3" fmla="*/ 139923 h 642405"/>
                <a:gd name="connsiteX4" fmla="*/ 0 w 639854"/>
                <a:gd name="connsiteY4" fmla="*/ 269028 h 642405"/>
                <a:gd name="connsiteX5" fmla="*/ 126280 w 639854"/>
                <a:gd name="connsiteY5" fmla="*/ 142749 h 642405"/>
                <a:gd name="connsiteX6" fmla="*/ 126280 w 639854"/>
                <a:gd name="connsiteY6" fmla="*/ 142749 h 642405"/>
                <a:gd name="connsiteX7" fmla="*/ 129106 w 639854"/>
                <a:gd name="connsiteY7" fmla="*/ 139923 h 642405"/>
                <a:gd name="connsiteX8" fmla="*/ 129106 w 639854"/>
                <a:gd name="connsiteY8" fmla="*/ 139923 h 642405"/>
                <a:gd name="connsiteX9" fmla="*/ 255385 w 639854"/>
                <a:gd name="connsiteY9" fmla="*/ 13643 h 642405"/>
                <a:gd name="connsiteX10" fmla="*/ 255386 w 639854"/>
                <a:gd name="connsiteY10" fmla="*/ 13643 h 642405"/>
                <a:gd name="connsiteX11" fmla="*/ 269029 w 639854"/>
                <a:gd name="connsiteY11" fmla="*/ 0 h 642405"/>
                <a:gd name="connsiteX12" fmla="*/ 593006 w 639854"/>
                <a:gd name="connsiteY12" fmla="*/ 0 h 642405"/>
                <a:gd name="connsiteX13" fmla="*/ 639854 w 639854"/>
                <a:gd name="connsiteY13" fmla="*/ 46848 h 642405"/>
                <a:gd name="connsiteX14" fmla="*/ 639854 w 639854"/>
                <a:gd name="connsiteY14" fmla="*/ 373376 h 642405"/>
                <a:gd name="connsiteX15" fmla="*/ 513574 w 639854"/>
                <a:gd name="connsiteY15" fmla="*/ 499656 h 642405"/>
                <a:gd name="connsiteX16" fmla="*/ 513575 w 639854"/>
                <a:gd name="connsiteY16" fmla="*/ 499655 h 642405"/>
                <a:gd name="connsiteX17" fmla="*/ 510748 w 639854"/>
                <a:gd name="connsiteY17" fmla="*/ 502482 h 642405"/>
                <a:gd name="connsiteX18" fmla="*/ 510748 w 639854"/>
                <a:gd name="connsiteY18" fmla="*/ 502482 h 642405"/>
                <a:gd name="connsiteX19" fmla="*/ 384469 w 639854"/>
                <a:gd name="connsiteY19" fmla="*/ 628762 h 642405"/>
                <a:gd name="connsiteX20" fmla="*/ 384469 w 639854"/>
                <a:gd name="connsiteY20" fmla="*/ 628761 h 642405"/>
                <a:gd name="connsiteX21" fmla="*/ 370825 w 639854"/>
                <a:gd name="connsiteY21" fmla="*/ 642405 h 642405"/>
                <a:gd name="connsiteX22" fmla="*/ 370825 w 639854"/>
                <a:gd name="connsiteY22" fmla="*/ 269028 h 64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9854" h="642405">
                  <a:moveTo>
                    <a:pt x="490015" y="139923"/>
                  </a:moveTo>
                  <a:lnTo>
                    <a:pt x="497027" y="142827"/>
                  </a:lnTo>
                  <a:lnTo>
                    <a:pt x="499931" y="149839"/>
                  </a:lnTo>
                  <a:lnTo>
                    <a:pt x="499931" y="139923"/>
                  </a:lnTo>
                  <a:close/>
                  <a:moveTo>
                    <a:pt x="0" y="269028"/>
                  </a:moveTo>
                  <a:lnTo>
                    <a:pt x="126280" y="142749"/>
                  </a:lnTo>
                  <a:lnTo>
                    <a:pt x="126280" y="142749"/>
                  </a:lnTo>
                  <a:lnTo>
                    <a:pt x="129106" y="139923"/>
                  </a:lnTo>
                  <a:lnTo>
                    <a:pt x="129106" y="139923"/>
                  </a:lnTo>
                  <a:lnTo>
                    <a:pt x="255385" y="13643"/>
                  </a:lnTo>
                  <a:lnTo>
                    <a:pt x="255386" y="13643"/>
                  </a:lnTo>
                  <a:lnTo>
                    <a:pt x="269029" y="0"/>
                  </a:lnTo>
                  <a:lnTo>
                    <a:pt x="593006" y="0"/>
                  </a:lnTo>
                  <a:cubicBezTo>
                    <a:pt x="618879" y="0"/>
                    <a:pt x="639854" y="20975"/>
                    <a:pt x="639854" y="46848"/>
                  </a:cubicBezTo>
                  <a:lnTo>
                    <a:pt x="639854" y="373376"/>
                  </a:lnTo>
                  <a:lnTo>
                    <a:pt x="513574" y="499656"/>
                  </a:lnTo>
                  <a:lnTo>
                    <a:pt x="513575" y="499655"/>
                  </a:lnTo>
                  <a:lnTo>
                    <a:pt x="510748" y="502482"/>
                  </a:lnTo>
                  <a:lnTo>
                    <a:pt x="510748" y="502482"/>
                  </a:lnTo>
                  <a:lnTo>
                    <a:pt x="384469" y="628762"/>
                  </a:lnTo>
                  <a:lnTo>
                    <a:pt x="384469" y="628761"/>
                  </a:lnTo>
                  <a:lnTo>
                    <a:pt x="370825" y="642405"/>
                  </a:lnTo>
                  <a:lnTo>
                    <a:pt x="370825" y="269028"/>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9" name="文本框 58"/>
            <p:cNvSpPr txBox="1"/>
            <p:nvPr/>
          </p:nvSpPr>
          <p:spPr>
            <a:xfrm>
              <a:off x="6433149" y="4631979"/>
              <a:ext cx="2642070"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3"/>
                  </a:solidFill>
                  <a:cs typeface="+mn-ea"/>
                  <a:sym typeface="+mn-lt"/>
                </a:rPr>
                <a:t>Data Modeling</a:t>
              </a:r>
              <a:endParaRPr lang="zh-CN" altLang="en-US" sz="2800" b="1" dirty="0">
                <a:solidFill>
                  <a:schemeClr val="accent3"/>
                </a:solidFill>
                <a:cs typeface="+mn-ea"/>
                <a:sym typeface="+mn-lt"/>
              </a:endParaRPr>
            </a:p>
          </p:txBody>
        </p:sp>
        <p:sp>
          <p:nvSpPr>
            <p:cNvPr id="62" name="文本框 61"/>
            <p:cNvSpPr txBox="1"/>
            <p:nvPr/>
          </p:nvSpPr>
          <p:spPr>
            <a:xfrm>
              <a:off x="5978010" y="4622590"/>
              <a:ext cx="356188" cy="461665"/>
            </a:xfrm>
            <a:prstGeom prst="rect">
              <a:avLst/>
            </a:prstGeom>
            <a:noFill/>
          </p:spPr>
          <p:txBody>
            <a:bodyPr wrap="none" rtlCol="0">
              <a:spAutoFit/>
              <a:scene3d>
                <a:camera prst="orthographicFront"/>
                <a:lightRig rig="threePt" dir="t"/>
              </a:scene3d>
              <a:sp3d contourW="12700"/>
            </a:bodyPr>
            <a:lstStyle/>
            <a:p>
              <a:pPr algn="ctr"/>
              <a:r>
                <a:rPr lang="en-US" altLang="zh-CN" sz="2400" b="1" i="1" dirty="0">
                  <a:solidFill>
                    <a:schemeClr val="bg1"/>
                  </a:solidFill>
                  <a:cs typeface="+mn-ea"/>
                  <a:sym typeface="+mn-lt"/>
                </a:rPr>
                <a:t>4</a:t>
              </a:r>
              <a:endParaRPr lang="zh-CN" altLang="en-US" sz="2400" b="1" i="1" dirty="0">
                <a:solidFill>
                  <a:schemeClr val="bg1"/>
                </a:solidFill>
                <a:cs typeface="+mn-ea"/>
                <a:sym typeface="+mn-lt"/>
              </a:endParaRPr>
            </a:p>
          </p:txBody>
        </p:sp>
      </p:grpSp>
      <p:sp>
        <p:nvSpPr>
          <p:cNvPr id="69" name="文本框 68"/>
          <p:cNvSpPr txBox="1"/>
          <p:nvPr/>
        </p:nvSpPr>
        <p:spPr>
          <a:xfrm>
            <a:off x="1860090" y="568529"/>
            <a:ext cx="2481192" cy="584775"/>
          </a:xfrm>
          <a:prstGeom prst="rect">
            <a:avLst/>
          </a:prstGeom>
          <a:noFill/>
        </p:spPr>
        <p:txBody>
          <a:bodyPr wrap="none" rtlCol="0">
            <a:spAutoFit/>
            <a:scene3d>
              <a:camera prst="orthographicFront"/>
              <a:lightRig rig="threePt" dir="t"/>
            </a:scene3d>
            <a:sp3d contourW="12700"/>
          </a:bodyPr>
          <a:lstStyle/>
          <a:p>
            <a:r>
              <a:rPr lang="en-US" altLang="zh-CN" sz="3200" b="1" i="1" dirty="0">
                <a:solidFill>
                  <a:schemeClr val="bg1"/>
                </a:solidFill>
                <a:cs typeface="+mn-ea"/>
                <a:sym typeface="+mn-lt"/>
              </a:rPr>
              <a:t>CONTENTS</a:t>
            </a:r>
            <a:endParaRPr lang="zh-CN" altLang="en-US" sz="3200" b="1" i="1" dirty="0">
              <a:solidFill>
                <a:schemeClr val="bg1"/>
              </a:solidFill>
              <a:cs typeface="+mn-ea"/>
              <a:sym typeface="+mn-lt"/>
            </a:endParaRPr>
          </a:p>
        </p:txBody>
      </p:sp>
      <p:sp>
        <p:nvSpPr>
          <p:cNvPr id="76" name="任意多边形 75"/>
          <p:cNvSpPr/>
          <p:nvPr/>
        </p:nvSpPr>
        <p:spPr>
          <a:xfrm rot="2700000">
            <a:off x="3427329" y="2269748"/>
            <a:ext cx="593302" cy="596266"/>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2">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15"/>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01</a:t>
            </a:r>
            <a:endParaRPr lang="zh-CN" altLang="en-US" sz="3600" dirty="0">
              <a:solidFill>
                <a:schemeClr val="accent1"/>
              </a:solidFill>
              <a:cs typeface="+mn-ea"/>
              <a:sym typeface="+mn-lt"/>
            </a:endParaRPr>
          </a:p>
        </p:txBody>
      </p:sp>
      <p:sp>
        <p:nvSpPr>
          <p:cNvPr id="14" name="文本框 13"/>
          <p:cNvSpPr txBox="1"/>
          <p:nvPr/>
        </p:nvSpPr>
        <p:spPr>
          <a:xfrm>
            <a:off x="6110514" y="4131820"/>
            <a:ext cx="5091413" cy="769441"/>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Project Overview</a:t>
            </a:r>
          </a:p>
        </p:txBody>
      </p:sp>
      <p:sp>
        <p:nvSpPr>
          <p:cNvPr id="17" name="任意多边形 16"/>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3B408-0B18-14FC-34A4-3C48F958BC55}"/>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5518B117-9B62-E6F7-A9BE-3C52370F7DD3}"/>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66F9C9EF-EE16-0DEA-9297-4916C4FB1B0A}"/>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6444BDDC-625D-A4DC-6B61-26A41B790EA9}"/>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4A426EE4-7D27-B21E-8DDC-0B16FB28214A}"/>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文本框 2">
            <a:extLst>
              <a:ext uri="{FF2B5EF4-FFF2-40B4-BE49-F238E27FC236}">
                <a16:creationId xmlns:a16="http://schemas.microsoft.com/office/drawing/2014/main" id="{C875877B-452F-0D94-EDB2-7AFE46B9D947}"/>
              </a:ext>
            </a:extLst>
          </p:cNvPr>
          <p:cNvSpPr txBox="1"/>
          <p:nvPr/>
        </p:nvSpPr>
        <p:spPr>
          <a:xfrm>
            <a:off x="1300083" y="1365842"/>
            <a:ext cx="9375933" cy="1477328"/>
          </a:xfrm>
          <a:prstGeom prst="rect">
            <a:avLst/>
          </a:prstGeom>
          <a:noFill/>
        </p:spPr>
        <p:txBody>
          <a:bodyPr wrap="square">
            <a:spAutoFit/>
          </a:bodyPr>
          <a:lstStyle/>
          <a:p>
            <a:pPr marL="342900" lvl="0" indent="-342900" algn="just">
              <a:buFont typeface="+mj-lt"/>
              <a:buAutoNum type="arabicPeriod"/>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Loan Eligibility:</a:t>
            </a:r>
            <a:r>
              <a:rPr lang="en-US" altLang="zh-CN" kern="100" dirty="0">
                <a:effectLst/>
                <a:latin typeface="Arial" panose="020B0604020202020204" pitchFamily="34" charset="0"/>
                <a:ea typeface="等线" panose="02010600030101010101" pitchFamily="2" charset="-122"/>
                <a:cs typeface="Arial" panose="020B0604020202020204" pitchFamily="34" charset="0"/>
              </a:rPr>
              <a:t> Determine whether a customer should be approved for a loan based on their financial and demographic profile.</a:t>
            </a:r>
            <a:endParaRPr lang="en-US" altLang="zh-CN" kern="100" dirty="0">
              <a:latin typeface="Arial" panose="020B0604020202020204" pitchFamily="34" charset="0"/>
              <a:ea typeface="等线" panose="02010600030101010101" pitchFamily="2" charset="-122"/>
              <a:cs typeface="Arial" panose="020B0604020202020204" pitchFamily="34" charset="0"/>
            </a:endParaRPr>
          </a:p>
          <a:p>
            <a:pPr marL="342900" lvl="0" indent="-342900" algn="just">
              <a:buFont typeface="+mj-lt"/>
              <a:buAutoNum type="arabicPeriod"/>
              <a:tabLst>
                <a:tab pos="457200" algn="l"/>
              </a:tabLst>
            </a:pPr>
            <a:endParaRPr lang="en-US" altLang="zh-CN" b="1" kern="100" dirty="0">
              <a:effectLst/>
              <a:latin typeface="Arial" panose="020B0604020202020204" pitchFamily="34" charset="0"/>
              <a:ea typeface="等线" panose="02010600030101010101" pitchFamily="2" charset="-122"/>
              <a:cs typeface="Arial" panose="020B0604020202020204" pitchFamily="34" charset="0"/>
            </a:endParaRPr>
          </a:p>
          <a:p>
            <a:pPr marL="342900" lvl="0" indent="-342900" algn="just">
              <a:buFont typeface="+mj-lt"/>
              <a:buAutoNum type="arabicPeriod"/>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Loan Amount:</a:t>
            </a:r>
            <a:r>
              <a:rPr lang="en-US" altLang="zh-CN" kern="100" dirty="0">
                <a:effectLst/>
                <a:latin typeface="Arial" panose="020B0604020202020204" pitchFamily="34" charset="0"/>
                <a:ea typeface="等线" panose="02010600030101010101" pitchFamily="2" charset="-122"/>
                <a:cs typeface="Arial" panose="020B0604020202020204" pitchFamily="34" charset="0"/>
              </a:rPr>
              <a:t> Estimate the loan amount that can be safely approved for eligible customers.</a:t>
            </a:r>
            <a:endParaRPr lang="zh-CN" altLang="zh-CN" kern="100" dirty="0">
              <a:effectLst/>
              <a:latin typeface="Arial" panose="020B0604020202020204" pitchFamily="34" charset="0"/>
              <a:ea typeface="等线" panose="02010600030101010101" pitchFamily="2" charset="-122"/>
              <a:cs typeface="Arial" panose="020B0604020202020204" pitchFamily="34" charset="0"/>
            </a:endParaRPr>
          </a:p>
        </p:txBody>
      </p:sp>
      <p:sp>
        <p:nvSpPr>
          <p:cNvPr id="5" name="文本框 4">
            <a:extLst>
              <a:ext uri="{FF2B5EF4-FFF2-40B4-BE49-F238E27FC236}">
                <a16:creationId xmlns:a16="http://schemas.microsoft.com/office/drawing/2014/main" id="{D3291030-5B48-6A06-A9AC-43E23A052E9F}"/>
              </a:ext>
            </a:extLst>
          </p:cNvPr>
          <p:cNvSpPr txBox="1"/>
          <p:nvPr/>
        </p:nvSpPr>
        <p:spPr>
          <a:xfrm>
            <a:off x="1300083" y="854587"/>
            <a:ext cx="9718832" cy="369332"/>
          </a:xfrm>
          <a:prstGeom prst="rect">
            <a:avLst/>
          </a:prstGeom>
          <a:noFill/>
        </p:spPr>
        <p:txBody>
          <a:bodyPr wrap="square">
            <a:spAutoFit/>
          </a:bodyPr>
          <a:lstStyle/>
          <a:p>
            <a:r>
              <a:rPr lang="en-US" altLang="zh-CN" kern="100" dirty="0">
                <a:effectLst/>
                <a:latin typeface="Arial" panose="020B0604020202020204" pitchFamily="34" charset="0"/>
                <a:ea typeface="等线" panose="02010600030101010101" pitchFamily="2" charset="-122"/>
                <a:cs typeface="Arial" panose="020B0604020202020204" pitchFamily="34" charset="0"/>
              </a:rPr>
              <a:t>This project aims to build a predictive system for loan eligibility and loan amount estimation. </a:t>
            </a:r>
            <a:endParaRPr lang="zh-CN" altLang="en-US" dirty="0">
              <a:latin typeface="Arial" panose="020B0604020202020204" pitchFamily="34" charset="0"/>
              <a:cs typeface="Arial" panose="020B0604020202020204" pitchFamily="34" charset="0"/>
            </a:endParaRPr>
          </a:p>
        </p:txBody>
      </p:sp>
      <p:pic>
        <p:nvPicPr>
          <p:cNvPr id="7" name="图片 6">
            <a:extLst>
              <a:ext uri="{FF2B5EF4-FFF2-40B4-BE49-F238E27FC236}">
                <a16:creationId xmlns:a16="http://schemas.microsoft.com/office/drawing/2014/main" id="{6220E60B-0534-DC4E-BE8E-EB31CB47BBA2}"/>
              </a:ext>
            </a:extLst>
          </p:cNvPr>
          <p:cNvPicPr>
            <a:picLocks noChangeAspect="1"/>
          </p:cNvPicPr>
          <p:nvPr/>
        </p:nvPicPr>
        <p:blipFill>
          <a:blip r:embed="rId3"/>
          <a:stretch>
            <a:fillRect/>
          </a:stretch>
        </p:blipFill>
        <p:spPr>
          <a:xfrm>
            <a:off x="1664447" y="3047215"/>
            <a:ext cx="4217660" cy="3283585"/>
          </a:xfrm>
          <a:prstGeom prst="rect">
            <a:avLst/>
          </a:prstGeom>
        </p:spPr>
      </p:pic>
      <p:sp>
        <p:nvSpPr>
          <p:cNvPr id="9" name="文本框 8">
            <a:extLst>
              <a:ext uri="{FF2B5EF4-FFF2-40B4-BE49-F238E27FC236}">
                <a16:creationId xmlns:a16="http://schemas.microsoft.com/office/drawing/2014/main" id="{5F9ADA09-9DDA-B104-29CC-8071CAEE0B4F}"/>
              </a:ext>
            </a:extLst>
          </p:cNvPr>
          <p:cNvSpPr txBox="1"/>
          <p:nvPr/>
        </p:nvSpPr>
        <p:spPr>
          <a:xfrm>
            <a:off x="6309895" y="4520432"/>
            <a:ext cx="4933617" cy="1477328"/>
          </a:xfrm>
          <a:prstGeom prst="rect">
            <a:avLst/>
          </a:prstGeom>
          <a:noFill/>
        </p:spPr>
        <p:txBody>
          <a:bodyPr wrap="square">
            <a:spAutoFit/>
          </a:bodyPr>
          <a:lstStyle/>
          <a:p>
            <a:r>
              <a:rPr lang="en-US" altLang="zh-CN" kern="100" dirty="0">
                <a:effectLst/>
                <a:latin typeface="Arial" panose="020B0604020202020204" pitchFamily="34" charset="0"/>
                <a:ea typeface="等线" panose="02010600030101010101" pitchFamily="2" charset="-122"/>
                <a:cs typeface="Arial" panose="020B0604020202020204" pitchFamily="34" charset="0"/>
              </a:rPr>
              <a:t>Data Source: </a:t>
            </a:r>
            <a:r>
              <a:rPr lang="en-US" altLang="zh-CN" kern="100" dirty="0">
                <a:solidFill>
                  <a:srgbClr val="00B0F0"/>
                </a:solidFill>
                <a:effectLst/>
                <a:latin typeface="Arial" panose="020B0604020202020204" pitchFamily="34" charset="0"/>
                <a:ea typeface="等线" panose="02010600030101010101" pitchFamily="2" charset="-122"/>
                <a:cs typeface="Arial" panose="020B0604020202020204" pitchFamily="34" charset="0"/>
                <a:hlinkClick r:id="rId4">
                  <a:extLst>
                    <a:ext uri="{A12FA001-AC4F-418D-AE19-62706E023703}">
                      <ahyp:hlinkClr xmlns:ahyp="http://schemas.microsoft.com/office/drawing/2018/hyperlinkcolor" val="tx"/>
                    </a:ext>
                  </a:extLst>
                </a:hlinkClick>
              </a:rPr>
              <a:t>https://www.kaggle.com/datasets/altruistdelhite04/loan-prediction-problem-dataset?resource=download&amp;select=train_u6lujuX_CVtuZ9i.csv</a:t>
            </a:r>
            <a:r>
              <a:rPr lang="en-US" altLang="zh-CN" kern="100" dirty="0">
                <a:solidFill>
                  <a:srgbClr val="00B0F0"/>
                </a:solidFill>
                <a:effectLst/>
                <a:latin typeface="Arial" panose="020B0604020202020204" pitchFamily="34" charset="0"/>
                <a:ea typeface="等线" panose="02010600030101010101" pitchFamily="2" charset="-122"/>
                <a:cs typeface="Arial" panose="020B0604020202020204" pitchFamily="34" charset="0"/>
              </a:rPr>
              <a:t> </a:t>
            </a:r>
            <a:endParaRPr lang="zh-CN" altLang="en-US" dirty="0">
              <a:solidFill>
                <a:srgbClr val="00B0F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743751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A61F9-FE84-9F41-D273-AA2D81C40013}"/>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2A1B7E95-39AE-5593-3E1B-B7A3178C8A59}"/>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96A4214A-6F73-C501-B7B4-5EB7200E1083}"/>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593D3892-74A8-137A-BA8A-A3D4CB86968C}"/>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FA56C515-12BC-75C8-EAC0-BD91BAE068EF}"/>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059336C0-7AE2-5CF0-3080-F4CE39FB682B}"/>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02</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9E363A37-AAB6-EAB8-F0EA-C338E7AF3631}"/>
              </a:ext>
            </a:extLst>
          </p:cNvPr>
          <p:cNvSpPr txBox="1"/>
          <p:nvPr/>
        </p:nvSpPr>
        <p:spPr>
          <a:xfrm>
            <a:off x="6110514" y="4131820"/>
            <a:ext cx="5091413" cy="769441"/>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Data Analysis</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894E1004-5560-6103-D536-866312D63985}"/>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6CFEA597-C61D-DFD5-DE72-29EC0FAE8877}"/>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142553383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CAFC-7158-1A1E-27E1-C95ED3B9C4C1}"/>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2F7D8D6B-15D7-85ED-4943-3EE042010799}"/>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DC1F1EEF-0C93-12FD-7E4C-E721832DD78A}"/>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157B87ED-322B-DFCA-1D27-271C52325228}"/>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4D883478-04EC-2030-34CC-287A37338906}"/>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7" name="图片 6">
            <a:extLst>
              <a:ext uri="{FF2B5EF4-FFF2-40B4-BE49-F238E27FC236}">
                <a16:creationId xmlns:a16="http://schemas.microsoft.com/office/drawing/2014/main" id="{9CD7F889-772D-61F3-CC27-D3F043826A3F}"/>
              </a:ext>
            </a:extLst>
          </p:cNvPr>
          <p:cNvPicPr>
            <a:picLocks noChangeAspect="1"/>
          </p:cNvPicPr>
          <p:nvPr/>
        </p:nvPicPr>
        <p:blipFill>
          <a:blip r:embed="rId3"/>
          <a:srcRect b="41354"/>
          <a:stretch/>
        </p:blipFill>
        <p:spPr>
          <a:xfrm>
            <a:off x="2167975" y="765117"/>
            <a:ext cx="7856049" cy="2532301"/>
          </a:xfrm>
          <a:prstGeom prst="rect">
            <a:avLst/>
          </a:prstGeom>
        </p:spPr>
      </p:pic>
      <p:pic>
        <p:nvPicPr>
          <p:cNvPr id="11" name="图片 10">
            <a:extLst>
              <a:ext uri="{FF2B5EF4-FFF2-40B4-BE49-F238E27FC236}">
                <a16:creationId xmlns:a16="http://schemas.microsoft.com/office/drawing/2014/main" id="{1850503A-D50E-AD3F-6A98-BD64581F0574}"/>
              </a:ext>
            </a:extLst>
          </p:cNvPr>
          <p:cNvPicPr>
            <a:picLocks noChangeAspect="1"/>
          </p:cNvPicPr>
          <p:nvPr/>
        </p:nvPicPr>
        <p:blipFill>
          <a:blip r:embed="rId4"/>
          <a:stretch>
            <a:fillRect/>
          </a:stretch>
        </p:blipFill>
        <p:spPr>
          <a:xfrm>
            <a:off x="2133345" y="3670132"/>
            <a:ext cx="7925307" cy="2736683"/>
          </a:xfrm>
          <a:prstGeom prst="rect">
            <a:avLst/>
          </a:prstGeom>
        </p:spPr>
      </p:pic>
    </p:spTree>
    <p:extLst>
      <p:ext uri="{BB962C8B-B14F-4D97-AF65-F5344CB8AC3E}">
        <p14:creationId xmlns:p14="http://schemas.microsoft.com/office/powerpoint/2010/main" val="33033309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88757-0DC9-B2DF-3CBC-EA47D74BDFDE}"/>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912C39A8-7753-EC14-CBAB-BCC8FFA4D09E}"/>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8629FCB9-D211-F250-896B-C8F2BDBB4F8E}"/>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AED6ABFB-7371-05A3-DC5F-1E1BA0E7938E}"/>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5E536C75-3D06-A769-7D98-AD725F481CD2}"/>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9" name="图片 8">
            <a:extLst>
              <a:ext uri="{FF2B5EF4-FFF2-40B4-BE49-F238E27FC236}">
                <a16:creationId xmlns:a16="http://schemas.microsoft.com/office/drawing/2014/main" id="{B4AA0F5C-5D90-834D-18A0-9C811FDFAC5B}"/>
              </a:ext>
            </a:extLst>
          </p:cNvPr>
          <p:cNvPicPr>
            <a:picLocks noChangeAspect="1"/>
          </p:cNvPicPr>
          <p:nvPr/>
        </p:nvPicPr>
        <p:blipFill>
          <a:blip r:embed="rId3"/>
          <a:stretch>
            <a:fillRect/>
          </a:stretch>
        </p:blipFill>
        <p:spPr>
          <a:xfrm>
            <a:off x="1638872" y="1039253"/>
            <a:ext cx="4404177" cy="5360068"/>
          </a:xfrm>
          <a:prstGeom prst="rect">
            <a:avLst/>
          </a:prstGeom>
        </p:spPr>
      </p:pic>
      <p:sp>
        <p:nvSpPr>
          <p:cNvPr id="3" name="文本框 2">
            <a:extLst>
              <a:ext uri="{FF2B5EF4-FFF2-40B4-BE49-F238E27FC236}">
                <a16:creationId xmlns:a16="http://schemas.microsoft.com/office/drawing/2014/main" id="{3B8ED708-83C8-4CE2-C5FF-C026324E300D}"/>
              </a:ext>
            </a:extLst>
          </p:cNvPr>
          <p:cNvSpPr txBox="1"/>
          <p:nvPr/>
        </p:nvSpPr>
        <p:spPr>
          <a:xfrm>
            <a:off x="6454969" y="1039253"/>
            <a:ext cx="5137455" cy="3693319"/>
          </a:xfrm>
          <a:prstGeom prst="rect">
            <a:avLst/>
          </a:prstGeom>
          <a:noFill/>
        </p:spPr>
        <p:txBody>
          <a:bodyPr wrap="square">
            <a:spAutoFit/>
          </a:bodyPr>
          <a:lstStyle/>
          <a:p>
            <a:pPr marL="285750" lvl="0" indent="-285750">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Categorical Features</a:t>
            </a:r>
            <a:r>
              <a:rPr lang="en-US" altLang="zh-CN" kern="100" dirty="0">
                <a:effectLst/>
                <a:latin typeface="Arial" panose="020B0604020202020204" pitchFamily="34" charset="0"/>
                <a:ea typeface="等线" panose="02010600030101010101" pitchFamily="2" charset="-122"/>
                <a:cs typeface="Arial" panose="020B0604020202020204" pitchFamily="34" charset="0"/>
              </a:rPr>
              <a:t>: These features have categories. (Gender, Married, </a:t>
            </a:r>
            <a:r>
              <a:rPr lang="en-US" altLang="zh-CN" kern="100" dirty="0" err="1">
                <a:effectLst/>
                <a:latin typeface="Arial" panose="020B0604020202020204" pitchFamily="34" charset="0"/>
                <a:ea typeface="等线" panose="02010600030101010101" pitchFamily="2" charset="-122"/>
                <a:cs typeface="Arial" panose="020B0604020202020204" pitchFamily="34" charset="0"/>
              </a:rPr>
              <a:t>Self_Employed</a:t>
            </a:r>
            <a:r>
              <a:rPr lang="en-US" altLang="zh-CN" kern="100" dirty="0">
                <a:effectLst/>
                <a:latin typeface="Arial" panose="020B0604020202020204" pitchFamily="34" charset="0"/>
                <a:ea typeface="等线" panose="02010600030101010101" pitchFamily="2" charset="-122"/>
                <a:cs typeface="Arial" panose="020B0604020202020204" pitchFamily="34" charset="0"/>
              </a:rPr>
              <a:t>, </a:t>
            </a:r>
            <a:r>
              <a:rPr lang="en-US" altLang="zh-CN" kern="100" dirty="0" err="1">
                <a:effectLst/>
                <a:latin typeface="Arial" panose="020B0604020202020204" pitchFamily="34" charset="0"/>
                <a:ea typeface="等线" panose="02010600030101010101" pitchFamily="2" charset="-122"/>
                <a:cs typeface="Arial" panose="020B0604020202020204" pitchFamily="34" charset="0"/>
              </a:rPr>
              <a:t>Credit_History</a:t>
            </a:r>
            <a:r>
              <a:rPr lang="en-US" altLang="zh-CN" kern="100" dirty="0">
                <a:effectLst/>
                <a:latin typeface="Arial" panose="020B0604020202020204" pitchFamily="34" charset="0"/>
                <a:ea typeface="等线" panose="02010600030101010101" pitchFamily="2" charset="-122"/>
                <a:cs typeface="Arial" panose="020B0604020202020204" pitchFamily="34" charset="0"/>
              </a:rPr>
              <a:t>, Loan Status). </a:t>
            </a:r>
          </a:p>
          <a:p>
            <a:pPr marL="285750" lvl="0" indent="-285750">
              <a:buFont typeface="Arial" panose="020B0604020202020204" pitchFamily="34" charset="0"/>
              <a:buChar char="•"/>
              <a:tabLst>
                <a:tab pos="457200" algn="l"/>
              </a:tabLst>
            </a:pPr>
            <a:endParaRPr lang="en-US" altLang="zh-CN" kern="100" dirty="0">
              <a:effectLst/>
              <a:latin typeface="Arial" panose="020B0604020202020204" pitchFamily="34" charset="0"/>
              <a:ea typeface="等线" panose="02010600030101010101" pitchFamily="2" charset="-122"/>
              <a:cs typeface="Arial" panose="020B0604020202020204" pitchFamily="34" charset="0"/>
            </a:endParaRPr>
          </a:p>
          <a:p>
            <a:pPr marL="285750" lvl="0" indent="-285750">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Ordinal Features</a:t>
            </a:r>
            <a:r>
              <a:rPr lang="en-US" altLang="zh-CN" kern="100" dirty="0">
                <a:effectLst/>
                <a:latin typeface="Arial" panose="020B0604020202020204" pitchFamily="34" charset="0"/>
                <a:ea typeface="等线" panose="02010600030101010101" pitchFamily="2" charset="-122"/>
                <a:cs typeface="Arial" panose="020B0604020202020204" pitchFamily="34" charset="0"/>
              </a:rPr>
              <a:t>: Variables in categorical features having some order involved.(Dependents, Education, </a:t>
            </a:r>
            <a:r>
              <a:rPr lang="en-US" altLang="zh-CN" kern="100" dirty="0" err="1">
                <a:effectLst/>
                <a:latin typeface="Arial" panose="020B0604020202020204" pitchFamily="34" charset="0"/>
                <a:ea typeface="等线" panose="02010600030101010101" pitchFamily="2" charset="-122"/>
                <a:cs typeface="Arial" panose="020B0604020202020204" pitchFamily="34" charset="0"/>
              </a:rPr>
              <a:t>Property_Area</a:t>
            </a:r>
            <a:r>
              <a:rPr lang="en-US" altLang="zh-CN" kern="100" dirty="0">
                <a:effectLst/>
                <a:latin typeface="Arial" panose="020B0604020202020204" pitchFamily="34" charset="0"/>
                <a:ea typeface="等线" panose="02010600030101010101" pitchFamily="2" charset="-122"/>
                <a:cs typeface="Arial" panose="020B0604020202020204" pitchFamily="34" charset="0"/>
              </a:rPr>
              <a:t>). </a:t>
            </a:r>
          </a:p>
          <a:p>
            <a:pPr marL="285750" lvl="0" indent="-285750">
              <a:buFont typeface="Arial" panose="020B0604020202020204" pitchFamily="34" charset="0"/>
              <a:buChar char="•"/>
              <a:tabLst>
                <a:tab pos="457200" algn="l"/>
              </a:tabLst>
            </a:pPr>
            <a:endParaRPr lang="en-US" altLang="zh-CN" kern="100" dirty="0">
              <a:effectLst/>
              <a:latin typeface="Arial" panose="020B0604020202020204" pitchFamily="34" charset="0"/>
              <a:ea typeface="等线" panose="02010600030101010101" pitchFamily="2" charset="-122"/>
              <a:cs typeface="Arial" panose="020B0604020202020204" pitchFamily="34" charset="0"/>
            </a:endParaRPr>
          </a:p>
          <a:p>
            <a:pPr marL="285750" lvl="0" indent="-285750">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Numerical Features</a:t>
            </a:r>
            <a:r>
              <a:rPr lang="en-US" altLang="zh-CN" kern="100" dirty="0">
                <a:effectLst/>
                <a:latin typeface="Arial" panose="020B0604020202020204" pitchFamily="34" charset="0"/>
                <a:ea typeface="等线" panose="02010600030101010101" pitchFamily="2" charset="-122"/>
                <a:cs typeface="Arial" panose="020B0604020202020204" pitchFamily="34" charset="0"/>
              </a:rPr>
              <a:t>: These features have numerical values. (</a:t>
            </a:r>
            <a:r>
              <a:rPr lang="en-US" altLang="zh-CN" kern="100" dirty="0" err="1">
                <a:effectLst/>
                <a:latin typeface="Arial" panose="020B0604020202020204" pitchFamily="34" charset="0"/>
                <a:ea typeface="等线" panose="02010600030101010101" pitchFamily="2" charset="-122"/>
                <a:cs typeface="Arial" panose="020B0604020202020204" pitchFamily="34" charset="0"/>
              </a:rPr>
              <a:t>ApplicantIncome</a:t>
            </a:r>
            <a:r>
              <a:rPr lang="zh-CN" altLang="en-US" kern="100" dirty="0">
                <a:effectLst/>
                <a:latin typeface="Arial" panose="020B0604020202020204" pitchFamily="34" charset="0"/>
                <a:ea typeface="等线" panose="02010600030101010101" pitchFamily="2" charset="-122"/>
                <a:cs typeface="Arial" panose="020B0604020202020204" pitchFamily="34" charset="0"/>
              </a:rPr>
              <a:t>，</a:t>
            </a:r>
            <a:r>
              <a:rPr lang="en-US" altLang="zh-CN" kern="100" dirty="0" err="1">
                <a:effectLst/>
                <a:latin typeface="Arial" panose="020B0604020202020204" pitchFamily="34" charset="0"/>
                <a:ea typeface="等线" panose="02010600030101010101" pitchFamily="2" charset="-122"/>
                <a:cs typeface="Arial" panose="020B0604020202020204" pitchFamily="34" charset="0"/>
              </a:rPr>
              <a:t>CoapplicantIncome</a:t>
            </a:r>
            <a:r>
              <a:rPr lang="en-US" altLang="zh-CN" kern="100" dirty="0">
                <a:effectLst/>
                <a:latin typeface="Arial" panose="020B0604020202020204" pitchFamily="34" charset="0"/>
                <a:ea typeface="等线" panose="02010600030101010101" pitchFamily="2" charset="-122"/>
                <a:cs typeface="Arial" panose="020B0604020202020204" pitchFamily="34" charset="0"/>
              </a:rPr>
              <a:t>, </a:t>
            </a:r>
            <a:r>
              <a:rPr lang="en-US" altLang="zh-CN" kern="100" dirty="0" err="1">
                <a:effectLst/>
                <a:latin typeface="Arial" panose="020B0604020202020204" pitchFamily="34" charset="0"/>
                <a:ea typeface="等线" panose="02010600030101010101" pitchFamily="2" charset="-122"/>
                <a:cs typeface="Arial" panose="020B0604020202020204" pitchFamily="34" charset="0"/>
              </a:rPr>
              <a:t>LoanAmount</a:t>
            </a:r>
            <a:r>
              <a:rPr lang="en-US" altLang="zh-CN" kern="100" dirty="0">
                <a:effectLst/>
                <a:latin typeface="Arial" panose="020B0604020202020204" pitchFamily="34" charset="0"/>
                <a:ea typeface="等线" panose="02010600030101010101" pitchFamily="2" charset="-122"/>
                <a:cs typeface="Arial" panose="020B0604020202020204" pitchFamily="34" charset="0"/>
              </a:rPr>
              <a:t>, Loan Amount Term)</a:t>
            </a:r>
            <a:endParaRPr lang="zh-CN" altLang="zh-CN" kern="100" dirty="0">
              <a:effectLst/>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252660039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3AE06-6A61-F924-7097-BCB08919D822}"/>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D134D55A-BA64-2E24-6291-C94ED0483ADB}"/>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228B2081-4E80-948F-3589-66792C989466}"/>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42C31AF6-8387-9348-CDE6-BCD5B9312EFC}"/>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691E3144-A243-4AE8-C29C-1AA71EC9957D}"/>
              </a:ext>
            </a:extLst>
          </p:cNvPr>
          <p:cNvSpPr txBox="1"/>
          <p:nvPr/>
        </p:nvSpPr>
        <p:spPr>
          <a:xfrm>
            <a:off x="1740503" y="450599"/>
            <a:ext cx="5234125"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2"/>
                </a:solidFill>
                <a:cs typeface="+mn-ea"/>
                <a:sym typeface="+mn-lt"/>
              </a:rPr>
              <a:t>Target Variable (</a:t>
            </a:r>
            <a:r>
              <a:rPr lang="en-US" altLang="zh-CN" sz="2800" b="1" dirty="0" err="1">
                <a:solidFill>
                  <a:schemeClr val="accent2"/>
                </a:solidFill>
                <a:cs typeface="+mn-ea"/>
                <a:sym typeface="+mn-lt"/>
              </a:rPr>
              <a:t>Loan_Status</a:t>
            </a:r>
            <a:r>
              <a:rPr lang="en-US" altLang="zh-CN" sz="2800" b="1" dirty="0">
                <a:solidFill>
                  <a:schemeClr val="accent2"/>
                </a:solidFill>
                <a:cs typeface="+mn-ea"/>
                <a:sym typeface="+mn-lt"/>
              </a:rPr>
              <a:t>)</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5EB7F57F-6B88-36D3-1D70-FF00C971AE8D}"/>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5C25C7FD-D906-800C-CBA4-6EC429815916}"/>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条形图&#10;&#10;AI 生成的内容可能不正确。">
            <a:extLst>
              <a:ext uri="{FF2B5EF4-FFF2-40B4-BE49-F238E27FC236}">
                <a16:creationId xmlns:a16="http://schemas.microsoft.com/office/drawing/2014/main" id="{A605BF5C-2856-DA53-CA34-0AA74D25F2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5296" y="1077272"/>
            <a:ext cx="6458452" cy="5535816"/>
          </a:xfrm>
          <a:prstGeom prst="rect">
            <a:avLst/>
          </a:prstGeom>
        </p:spPr>
      </p:pic>
    </p:spTree>
    <p:extLst>
      <p:ext uri="{BB962C8B-B14F-4D97-AF65-F5344CB8AC3E}">
        <p14:creationId xmlns:p14="http://schemas.microsoft.com/office/powerpoint/2010/main" val="39888243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A8FD0-A952-D7C9-54F4-75B116370EEC}"/>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7702AA3B-6B48-17F0-ADE7-DD829C85313E}"/>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996EB69A-E5BA-8BC2-C387-996E5D3E0494}"/>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C22A53AA-0C1A-A184-B1B8-29F45206A5A6}"/>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5890A54F-7EB5-9AD1-9EC9-29DE65AAE37D}"/>
              </a:ext>
            </a:extLst>
          </p:cNvPr>
          <p:cNvSpPr txBox="1"/>
          <p:nvPr/>
        </p:nvSpPr>
        <p:spPr>
          <a:xfrm>
            <a:off x="1653288" y="154877"/>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Categorical Feature</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0029A218-5FC0-0A09-8036-59CDCDA0F608}"/>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2400EFB2-A773-5CFA-7F3E-95DCD542CB2F}"/>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10" name="图片 9" descr="图表, 条形图&#10;&#10;AI 生成的内容可能不正确。">
            <a:extLst>
              <a:ext uri="{FF2B5EF4-FFF2-40B4-BE49-F238E27FC236}">
                <a16:creationId xmlns:a16="http://schemas.microsoft.com/office/drawing/2014/main" id="{A5848875-39DF-682E-9F1A-75101B0128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977" y="3429000"/>
            <a:ext cx="3945118" cy="3381530"/>
          </a:xfrm>
          <a:prstGeom prst="rect">
            <a:avLst/>
          </a:prstGeom>
        </p:spPr>
      </p:pic>
      <p:pic>
        <p:nvPicPr>
          <p:cNvPr id="12" name="图片 11" descr="图表, 条形图&#10;&#10;AI 生成的内容可能不正确。">
            <a:extLst>
              <a:ext uri="{FF2B5EF4-FFF2-40B4-BE49-F238E27FC236}">
                <a16:creationId xmlns:a16="http://schemas.microsoft.com/office/drawing/2014/main" id="{DEE70024-5375-6432-7647-31442DAFB9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2979" y="560353"/>
            <a:ext cx="3710912" cy="3180782"/>
          </a:xfrm>
          <a:prstGeom prst="rect">
            <a:avLst/>
          </a:prstGeom>
        </p:spPr>
      </p:pic>
      <p:pic>
        <p:nvPicPr>
          <p:cNvPr id="14" name="图片 13" descr="图表, 条形图&#10;&#10;AI 生成的内容可能不正确。">
            <a:extLst>
              <a:ext uri="{FF2B5EF4-FFF2-40B4-BE49-F238E27FC236}">
                <a16:creationId xmlns:a16="http://schemas.microsoft.com/office/drawing/2014/main" id="{1AB88697-3017-28E4-27A8-AC1A3D49DD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84398" y="3637090"/>
            <a:ext cx="3639493" cy="3119565"/>
          </a:xfrm>
          <a:prstGeom prst="rect">
            <a:avLst/>
          </a:prstGeom>
        </p:spPr>
      </p:pic>
      <p:pic>
        <p:nvPicPr>
          <p:cNvPr id="16" name="图片 15" descr="图表, 条形图&#10;&#10;AI 生成的内容可能不正确。">
            <a:extLst>
              <a:ext uri="{FF2B5EF4-FFF2-40B4-BE49-F238E27FC236}">
                <a16:creationId xmlns:a16="http://schemas.microsoft.com/office/drawing/2014/main" id="{848CB27A-A4EF-0D8A-D824-3C64646CFC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32369" y="624577"/>
            <a:ext cx="3514600" cy="3012513"/>
          </a:xfrm>
          <a:prstGeom prst="rect">
            <a:avLst/>
          </a:prstGeom>
        </p:spPr>
      </p:pic>
    </p:spTree>
    <p:extLst>
      <p:ext uri="{BB962C8B-B14F-4D97-AF65-F5344CB8AC3E}">
        <p14:creationId xmlns:p14="http://schemas.microsoft.com/office/powerpoint/2010/main" val="5592041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4749-BC45-3EDE-C3E5-61E00B79A061}"/>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2F8D516F-97FD-D5B0-7867-AB74A0DF969A}"/>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6510EC6A-3C08-CF5E-9C8E-5ABCD476BC14}"/>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850ADEA4-5A84-2D7B-FD76-89102F64C3B3}"/>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2FD3F625-E590-7FA3-5A15-4B8104F980D7}"/>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Ordinal Features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49DD1283-60BA-D9D7-9250-2231F6EC3DCF}"/>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7BAE147D-C16F-9E67-F19F-AD2EE3A46292}"/>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条形图&#10;&#10;AI 生成的内容可能不正确。">
            <a:extLst>
              <a:ext uri="{FF2B5EF4-FFF2-40B4-BE49-F238E27FC236}">
                <a16:creationId xmlns:a16="http://schemas.microsoft.com/office/drawing/2014/main" id="{A913CA3A-68F6-2E3F-2F02-178641CA88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5844" y="1576137"/>
            <a:ext cx="4093598" cy="3508798"/>
          </a:xfrm>
          <a:prstGeom prst="rect">
            <a:avLst/>
          </a:prstGeom>
        </p:spPr>
      </p:pic>
      <p:pic>
        <p:nvPicPr>
          <p:cNvPr id="5" name="图片 4" descr="图表, 条形图&#10;&#10;AI 生成的内容可能不正确。">
            <a:extLst>
              <a:ext uri="{FF2B5EF4-FFF2-40B4-BE49-F238E27FC236}">
                <a16:creationId xmlns:a16="http://schemas.microsoft.com/office/drawing/2014/main" id="{0669FB61-CB14-9900-3E7D-8E1A0ACBA4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37722" y="1576136"/>
            <a:ext cx="4093599" cy="3508799"/>
          </a:xfrm>
          <a:prstGeom prst="rect">
            <a:avLst/>
          </a:prstGeom>
        </p:spPr>
      </p:pic>
      <p:pic>
        <p:nvPicPr>
          <p:cNvPr id="7" name="图片 6" descr="图表, 条形图&#10;&#10;AI 生成的内容可能不正确。">
            <a:extLst>
              <a:ext uri="{FF2B5EF4-FFF2-40B4-BE49-F238E27FC236}">
                <a16:creationId xmlns:a16="http://schemas.microsoft.com/office/drawing/2014/main" id="{26F9884B-AD4F-8B02-B4DC-FBDB9222DC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2319" y="1576136"/>
            <a:ext cx="4093599" cy="3508799"/>
          </a:xfrm>
          <a:prstGeom prst="rect">
            <a:avLst/>
          </a:prstGeom>
        </p:spPr>
      </p:pic>
    </p:spTree>
    <p:extLst>
      <p:ext uri="{BB962C8B-B14F-4D97-AF65-F5344CB8AC3E}">
        <p14:creationId xmlns:p14="http://schemas.microsoft.com/office/powerpoint/2010/main" val="261929257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FEF8B-5CDB-A5DE-992D-DCBF0D73EBD3}"/>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9E653AF8-32CB-A5D4-72AD-B60BEBB50287}"/>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B284C549-C545-A474-6B84-FC0EA3DF6DC7}"/>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25C269B2-E024-E47B-E450-30BAE2934E9E}"/>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B997C05B-08B8-A210-D977-1212A60A890D}"/>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Numerical Features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A252BD46-0B35-9955-AB55-605250C6BDDA}"/>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F705090E-36AF-3468-C961-FCCAC6E8EB10}"/>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descr="图表&#10;&#10;AI 生成的内容可能不正确。">
            <a:extLst>
              <a:ext uri="{FF2B5EF4-FFF2-40B4-BE49-F238E27FC236}">
                <a16:creationId xmlns:a16="http://schemas.microsoft.com/office/drawing/2014/main" id="{BD0D10CB-272B-8485-243B-F10D959EF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691" y="1210538"/>
            <a:ext cx="10648617" cy="4436924"/>
          </a:xfrm>
          <a:prstGeom prst="rect">
            <a:avLst/>
          </a:prstGeom>
        </p:spPr>
      </p:pic>
    </p:spTree>
    <p:extLst>
      <p:ext uri="{BB962C8B-B14F-4D97-AF65-F5344CB8AC3E}">
        <p14:creationId xmlns:p14="http://schemas.microsoft.com/office/powerpoint/2010/main" val="21088777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5376C-D158-D042-95D8-07A8E4412BB9}"/>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54CF9B9C-1747-9E7F-C2D7-9A6CC0D02166}"/>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502E29BB-DAA8-0EEC-8CE7-F238B41326E4}"/>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3BB25927-557E-909D-52B2-8D384FCA5136}"/>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283A66BA-BCB1-69F1-CB52-B3CEE1F29115}"/>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Numerical Features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9BE6408D-8E9A-5342-9E26-068715AE80C0}"/>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0F872466-B556-9F22-94E2-217DE139583C}"/>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箱线图&#10;&#10;AI 生成的内容可能不正确。">
            <a:extLst>
              <a:ext uri="{FF2B5EF4-FFF2-40B4-BE49-F238E27FC236}">
                <a16:creationId xmlns:a16="http://schemas.microsoft.com/office/drawing/2014/main" id="{40BD25DC-2524-9A84-F9E1-3B720B030C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6615" y="711155"/>
            <a:ext cx="6838769" cy="5861802"/>
          </a:xfrm>
          <a:prstGeom prst="rect">
            <a:avLst/>
          </a:prstGeom>
        </p:spPr>
      </p:pic>
    </p:spTree>
    <p:extLst>
      <p:ext uri="{BB962C8B-B14F-4D97-AF65-F5344CB8AC3E}">
        <p14:creationId xmlns:p14="http://schemas.microsoft.com/office/powerpoint/2010/main" val="418780994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B1E0D-20AC-BB2F-C0B0-954524DC3CAE}"/>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77DCCC05-172B-E589-ECF3-113D4E767C57}"/>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B2E2AC53-3E98-BEBD-1300-A9B714051905}"/>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7D1D6506-5CFF-6EDD-59D4-6EF6788029DF}"/>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5BAAC62B-CB29-70F9-C413-DE3B0772EA6E}"/>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Numerical Features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2DEE9989-C233-F50D-EDAB-08CBEEEED6A8}"/>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304D7966-D1BA-2100-95DC-9E0A9F545A7F}"/>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6" name="图片 5" descr="图表&#10;&#10;AI 生成的内容可能不正确。">
            <a:extLst>
              <a:ext uri="{FF2B5EF4-FFF2-40B4-BE49-F238E27FC236}">
                <a16:creationId xmlns:a16="http://schemas.microsoft.com/office/drawing/2014/main" id="{20857995-F40C-D75D-5F1E-B82E757B58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803" y="1143501"/>
            <a:ext cx="10970393" cy="4570997"/>
          </a:xfrm>
          <a:prstGeom prst="rect">
            <a:avLst/>
          </a:prstGeom>
        </p:spPr>
      </p:pic>
    </p:spTree>
    <p:extLst>
      <p:ext uri="{BB962C8B-B14F-4D97-AF65-F5344CB8AC3E}">
        <p14:creationId xmlns:p14="http://schemas.microsoft.com/office/powerpoint/2010/main" val="5444547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8A6B2-2947-2F47-3BD3-E1320B492178}"/>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E34CE0F7-FBF4-C575-A0EC-F6D73A0E2398}"/>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E7E6EE59-8A0E-AD50-09A9-0FBBE1BFA682}"/>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D8673844-136F-F97E-E896-AC7AB59DE2BD}"/>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73BEC1D1-BB0C-CA67-93AE-3FD840C6E0FF}"/>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Numerical Features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CBD02F42-4E4E-E100-326B-616C18706444}"/>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4A313649-E039-07C4-36E7-8EA931264114}"/>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直方图&#10;&#10;AI 生成的内容可能不正确。">
            <a:extLst>
              <a:ext uri="{FF2B5EF4-FFF2-40B4-BE49-F238E27FC236}">
                <a16:creationId xmlns:a16="http://schemas.microsoft.com/office/drawing/2014/main" id="{2887CDD0-E2DC-AC8F-E625-BD6AA2D03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336" y="1212682"/>
            <a:ext cx="10638325" cy="4432635"/>
          </a:xfrm>
          <a:prstGeom prst="rect">
            <a:avLst/>
          </a:prstGeom>
        </p:spPr>
      </p:pic>
    </p:spTree>
    <p:extLst>
      <p:ext uri="{BB962C8B-B14F-4D97-AF65-F5344CB8AC3E}">
        <p14:creationId xmlns:p14="http://schemas.microsoft.com/office/powerpoint/2010/main" val="331814010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E99BD-074B-133C-1A8B-E2279D6BBF46}"/>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6D3DB270-268C-67E2-2977-1E61D9698FF1}"/>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0AF8634B-4E3A-1D6C-139B-A1816BB88E08}"/>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290BD453-1CF3-EB7F-6FB4-23F32DA54B2B}"/>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EDA5275F-1C7E-A193-BF1A-93B3A386C920}"/>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Numerical Features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9B2FDAC0-0A03-A966-90B1-29288965D2A3}"/>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10D96A68-EB6F-6A66-5A4A-8C90A15E99C5}"/>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直方图&#10;&#10;AI 生成的内容可能不正确。">
            <a:extLst>
              <a:ext uri="{FF2B5EF4-FFF2-40B4-BE49-F238E27FC236}">
                <a16:creationId xmlns:a16="http://schemas.microsoft.com/office/drawing/2014/main" id="{C6E7EEE2-E4F4-AC1A-E5D4-842AE77765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449" y="1131469"/>
            <a:ext cx="11028146" cy="4595061"/>
          </a:xfrm>
          <a:prstGeom prst="rect">
            <a:avLst/>
          </a:prstGeom>
        </p:spPr>
      </p:pic>
    </p:spTree>
    <p:extLst>
      <p:ext uri="{BB962C8B-B14F-4D97-AF65-F5344CB8AC3E}">
        <p14:creationId xmlns:p14="http://schemas.microsoft.com/office/powerpoint/2010/main" val="30297718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9DE24-F826-57EB-E2E5-0F76DFE44EAB}"/>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C5E245C7-0B50-2A3F-1361-E803F2100094}"/>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87A6DB19-AD97-B4DA-B1C4-77E44517DF65}"/>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99D6594D-5043-1EC0-B1CE-3C10BB67A293}"/>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421A041B-053F-0C8A-9B20-6D47D2380AFF}"/>
              </a:ext>
            </a:extLst>
          </p:cNvPr>
          <p:cNvSpPr txBox="1"/>
          <p:nvPr/>
        </p:nvSpPr>
        <p:spPr>
          <a:xfrm>
            <a:off x="1740503" y="450599"/>
            <a:ext cx="2124299"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2"/>
                </a:solidFill>
                <a:cs typeface="+mn-ea"/>
                <a:sym typeface="+mn-lt"/>
              </a:rPr>
              <a:t>Hypothesis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28A07193-4228-7307-C21D-88FFB7246A87}"/>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48C2F11C-5227-DC8A-4B42-89722789D138}"/>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文本框 2">
            <a:extLst>
              <a:ext uri="{FF2B5EF4-FFF2-40B4-BE49-F238E27FC236}">
                <a16:creationId xmlns:a16="http://schemas.microsoft.com/office/drawing/2014/main" id="{EDC86F89-6A4B-4C92-B23E-7E25374EE21F}"/>
              </a:ext>
            </a:extLst>
          </p:cNvPr>
          <p:cNvSpPr txBox="1"/>
          <p:nvPr/>
        </p:nvSpPr>
        <p:spPr>
          <a:xfrm>
            <a:off x="1740503" y="1476928"/>
            <a:ext cx="9087918" cy="4154984"/>
          </a:xfrm>
          <a:prstGeom prst="rect">
            <a:avLst/>
          </a:prstGeom>
          <a:noFill/>
        </p:spPr>
        <p:txBody>
          <a:bodyPr wrap="square">
            <a:spAutoFit/>
          </a:bodyPr>
          <a:lstStyle/>
          <a:p>
            <a:pPr algn="l"/>
            <a:r>
              <a:rPr lang="en-US" altLang="zh-CN" sz="2400" b="0" i="0" dirty="0">
                <a:solidFill>
                  <a:srgbClr val="1F2328"/>
                </a:solidFill>
                <a:effectLst/>
                <a:latin typeface="Arial" panose="020B0604020202020204" pitchFamily="34" charset="0"/>
                <a:cs typeface="Arial" panose="020B0604020202020204" pitchFamily="34" charset="0"/>
              </a:rPr>
              <a:t>Hypothesis 1: Applicants with higher incomes are more likely to be approved for loans.</a:t>
            </a:r>
          </a:p>
          <a:p>
            <a:pPr algn="l">
              <a:buFont typeface="Arial" panose="020B0604020202020204" pitchFamily="34" charset="0"/>
              <a:buChar char="•"/>
            </a:pPr>
            <a:endParaRPr lang="en-US" altLang="zh-CN" sz="2400" b="0" i="0" dirty="0">
              <a:solidFill>
                <a:srgbClr val="1F2328"/>
              </a:solidFill>
              <a:effectLst/>
              <a:latin typeface="Arial" panose="020B0604020202020204" pitchFamily="34" charset="0"/>
              <a:cs typeface="Arial" panose="020B0604020202020204" pitchFamily="34" charset="0"/>
            </a:endParaRPr>
          </a:p>
          <a:p>
            <a:pPr algn="l"/>
            <a:r>
              <a:rPr lang="en-US" altLang="zh-CN" sz="2400" b="0" i="0" dirty="0">
                <a:solidFill>
                  <a:srgbClr val="1F2328"/>
                </a:solidFill>
                <a:effectLst/>
                <a:latin typeface="Arial" panose="020B0604020202020204" pitchFamily="34" charset="0"/>
                <a:cs typeface="Arial" panose="020B0604020202020204" pitchFamily="34" charset="0"/>
              </a:rPr>
              <a:t>Hypothesis 2: Applicants with a credit history are more likely to be approved for loans.</a:t>
            </a:r>
          </a:p>
          <a:p>
            <a:pPr algn="l">
              <a:buFont typeface="Arial" panose="020B0604020202020204" pitchFamily="34" charset="0"/>
              <a:buChar char="•"/>
            </a:pPr>
            <a:endParaRPr lang="en-US" altLang="zh-CN" sz="2400" b="0" i="0" dirty="0">
              <a:solidFill>
                <a:srgbClr val="1F2328"/>
              </a:solidFill>
              <a:effectLst/>
              <a:latin typeface="Arial" panose="020B0604020202020204" pitchFamily="34" charset="0"/>
              <a:cs typeface="Arial" panose="020B0604020202020204" pitchFamily="34" charset="0"/>
            </a:endParaRPr>
          </a:p>
          <a:p>
            <a:pPr algn="l"/>
            <a:r>
              <a:rPr lang="en-US" altLang="zh-CN" sz="2400" b="0" i="0" dirty="0">
                <a:solidFill>
                  <a:srgbClr val="1F2328"/>
                </a:solidFill>
                <a:effectLst/>
                <a:latin typeface="Arial" panose="020B0604020202020204" pitchFamily="34" charset="0"/>
                <a:cs typeface="Arial" panose="020B0604020202020204" pitchFamily="34" charset="0"/>
              </a:rPr>
              <a:t>Hypothesis 3: Married applicants are more likely to be approved for loans than unmarried applicants.</a:t>
            </a:r>
          </a:p>
          <a:p>
            <a:pPr algn="l">
              <a:buFont typeface="Arial" panose="020B0604020202020204" pitchFamily="34" charset="0"/>
              <a:buChar char="•"/>
            </a:pPr>
            <a:endParaRPr lang="en-US" altLang="zh-CN" sz="2400" b="0" i="0" dirty="0">
              <a:solidFill>
                <a:srgbClr val="1F2328"/>
              </a:solidFill>
              <a:effectLst/>
              <a:latin typeface="Arial" panose="020B0604020202020204" pitchFamily="34" charset="0"/>
              <a:cs typeface="Arial" panose="020B0604020202020204" pitchFamily="34" charset="0"/>
            </a:endParaRPr>
          </a:p>
          <a:p>
            <a:pPr algn="l"/>
            <a:r>
              <a:rPr lang="en-US" altLang="zh-CN" sz="2400" b="0" i="0" dirty="0">
                <a:solidFill>
                  <a:srgbClr val="1F2328"/>
                </a:solidFill>
                <a:effectLst/>
                <a:latin typeface="Arial" panose="020B0604020202020204" pitchFamily="34" charset="0"/>
                <a:cs typeface="Arial" panose="020B0604020202020204" pitchFamily="34" charset="0"/>
              </a:rPr>
              <a:t>Hypothesis 4: The loan amount approved is positively correlated with the applicant’s income.</a:t>
            </a:r>
          </a:p>
        </p:txBody>
      </p:sp>
    </p:spTree>
    <p:extLst>
      <p:ext uri="{BB962C8B-B14F-4D97-AF65-F5344CB8AC3E}">
        <p14:creationId xmlns:p14="http://schemas.microsoft.com/office/powerpoint/2010/main" val="41865717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F4B97-C05D-A162-38CE-CFB22B94CDF0}"/>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B713E874-00DE-0CEB-B126-9CD44E311439}"/>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A1BE6AF6-6E1C-AD21-7279-5E42A46BE831}"/>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C0F642A8-1CA2-7708-18DF-1B476C9A4EA4}"/>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7E2F7CCB-8627-A200-58B7-66CF21291E66}"/>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bivariate analysis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C2E3BF98-2EAA-B68C-F033-F3269687C41E}"/>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3326CA63-07B3-CB21-C9C2-7CDA3FC52147}"/>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descr="图表, 条形图&#10;&#10;AI 生成的内容可能不正确。">
            <a:extLst>
              <a:ext uri="{FF2B5EF4-FFF2-40B4-BE49-F238E27FC236}">
                <a16:creationId xmlns:a16="http://schemas.microsoft.com/office/drawing/2014/main" id="{876C249E-235E-AEFD-15BF-CD1FEF07A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8887" y="691513"/>
            <a:ext cx="3662907" cy="3139634"/>
          </a:xfrm>
          <a:prstGeom prst="rect">
            <a:avLst/>
          </a:prstGeom>
        </p:spPr>
      </p:pic>
      <p:pic>
        <p:nvPicPr>
          <p:cNvPr id="6" name="图片 5" descr="图表, 条形图&#10;&#10;AI 生成的内容可能不正确。">
            <a:extLst>
              <a:ext uri="{FF2B5EF4-FFF2-40B4-BE49-F238E27FC236}">
                <a16:creationId xmlns:a16="http://schemas.microsoft.com/office/drawing/2014/main" id="{83D714C2-D600-5C4D-FFB5-F168E8B085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7194" y="3831147"/>
            <a:ext cx="3514600" cy="3012514"/>
          </a:xfrm>
          <a:prstGeom prst="rect">
            <a:avLst/>
          </a:prstGeom>
        </p:spPr>
      </p:pic>
      <p:pic>
        <p:nvPicPr>
          <p:cNvPr id="8" name="图片 7" descr="图表, 条形图&#10;&#10;AI 生成的内容可能不正确。">
            <a:extLst>
              <a:ext uri="{FF2B5EF4-FFF2-40B4-BE49-F238E27FC236}">
                <a16:creationId xmlns:a16="http://schemas.microsoft.com/office/drawing/2014/main" id="{C9B7D79C-13C1-5CBE-B6FE-1E2050B6F8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59499" y="691513"/>
            <a:ext cx="3741920" cy="3207359"/>
          </a:xfrm>
          <a:prstGeom prst="rect">
            <a:avLst/>
          </a:prstGeom>
        </p:spPr>
      </p:pic>
      <p:pic>
        <p:nvPicPr>
          <p:cNvPr id="10" name="图片 9" descr="图表, 条形图&#10;&#10;AI 生成的内容可能不正确。">
            <a:extLst>
              <a:ext uri="{FF2B5EF4-FFF2-40B4-BE49-F238E27FC236}">
                <a16:creationId xmlns:a16="http://schemas.microsoft.com/office/drawing/2014/main" id="{82B139F6-E2F8-3211-5FA6-96F8FFD9BCC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86086" y="3810786"/>
            <a:ext cx="3518495" cy="3015852"/>
          </a:xfrm>
          <a:prstGeom prst="rect">
            <a:avLst/>
          </a:prstGeom>
        </p:spPr>
      </p:pic>
    </p:spTree>
    <p:extLst>
      <p:ext uri="{BB962C8B-B14F-4D97-AF65-F5344CB8AC3E}">
        <p14:creationId xmlns:p14="http://schemas.microsoft.com/office/powerpoint/2010/main" val="11590814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5F48E-519A-856E-6033-9E517F6CF221}"/>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6E8902D2-F5D0-1838-386E-B1037C2B28A3}"/>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C3252693-1873-EFBF-2565-0A34C2BEE9F0}"/>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4D743FEC-3610-D1F3-CD20-D47286C70F12}"/>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EDAC1000-F216-0329-D48F-2D51F6E4B323}"/>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bivariate analysis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E3E93E11-072D-9870-B04C-C1465E874A35}"/>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FF8582DB-9279-2592-3A36-DD7878DD1F33}"/>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条形图&#10;&#10;AI 生成的内容可能不正确。">
            <a:extLst>
              <a:ext uri="{FF2B5EF4-FFF2-40B4-BE49-F238E27FC236}">
                <a16:creationId xmlns:a16="http://schemas.microsoft.com/office/drawing/2014/main" id="{A244F4FF-581B-BBF3-A1EB-7AD9D4B856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0057" y="1264320"/>
            <a:ext cx="6068930" cy="5201940"/>
          </a:xfrm>
          <a:prstGeom prst="rect">
            <a:avLst/>
          </a:prstGeom>
        </p:spPr>
      </p:pic>
    </p:spTree>
    <p:extLst>
      <p:ext uri="{BB962C8B-B14F-4D97-AF65-F5344CB8AC3E}">
        <p14:creationId xmlns:p14="http://schemas.microsoft.com/office/powerpoint/2010/main" val="413254928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62834-51FB-4C0C-8443-FA754D6B3D40}"/>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D46BAF4E-A959-7489-FA22-7C474326A824}"/>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185A0B56-8984-E9B8-AECB-49CF887012C4}"/>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C13CB1F6-B617-8517-843A-5BB7A13BF1F5}"/>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FBE9EC00-CD1F-992A-FBEE-2E06AE692673}"/>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bivariate analysis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BA2B3DF8-BDAE-A6E2-332F-02703545B0FB}"/>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6ECB3FA3-95AC-582B-5B72-7871525A484D}"/>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9" name="图片 8" descr="图表, 条形图&#10;&#10;AI 生成的内容可能不正确。">
            <a:extLst>
              <a:ext uri="{FF2B5EF4-FFF2-40B4-BE49-F238E27FC236}">
                <a16:creationId xmlns:a16="http://schemas.microsoft.com/office/drawing/2014/main" id="{AB59CFCA-D63B-1EC9-A128-E4650B1189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662" y="1083977"/>
            <a:ext cx="5019924" cy="4302792"/>
          </a:xfrm>
          <a:prstGeom prst="rect">
            <a:avLst/>
          </a:prstGeom>
        </p:spPr>
      </p:pic>
      <p:pic>
        <p:nvPicPr>
          <p:cNvPr id="4" name="图片 3" descr="图表, 条形图&#10;&#10;AI 生成的内容可能不正确。">
            <a:extLst>
              <a:ext uri="{FF2B5EF4-FFF2-40B4-BE49-F238E27FC236}">
                <a16:creationId xmlns:a16="http://schemas.microsoft.com/office/drawing/2014/main" id="{4BC1F14A-DE94-D4DD-B002-E68798F817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0870" y="1264320"/>
            <a:ext cx="6096000" cy="4572000"/>
          </a:xfrm>
          <a:prstGeom prst="rect">
            <a:avLst/>
          </a:prstGeom>
        </p:spPr>
      </p:pic>
    </p:spTree>
    <p:extLst>
      <p:ext uri="{BB962C8B-B14F-4D97-AF65-F5344CB8AC3E}">
        <p14:creationId xmlns:p14="http://schemas.microsoft.com/office/powerpoint/2010/main" val="11884116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631A0-22DB-E3CD-E247-F6DC506D214D}"/>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94A3DA6B-17CB-825F-2679-2EF74063A082}"/>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5A6B867A-9EE4-4B29-514B-A0823A36DE95}"/>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AE1CADDF-C183-E1AF-E35A-820A58E0B80D}"/>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A9F630AA-C7F0-E60E-F00A-3F046DBC5D8C}"/>
              </a:ext>
            </a:extLst>
          </p:cNvPr>
          <p:cNvSpPr txBox="1"/>
          <p:nvPr/>
        </p:nvSpPr>
        <p:spPr>
          <a:xfrm>
            <a:off x="1617194" y="285043"/>
            <a:ext cx="3514600"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bivariate analysis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C9C28097-83C3-6919-837B-A437B051E7A2}"/>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4CAAF11D-5C0A-0EF0-E28B-C5F71D7E6F2D}"/>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6" name="图片 5" descr="图表, 散点图&#10;&#10;AI 生成的内容可能不正确。">
            <a:extLst>
              <a:ext uri="{FF2B5EF4-FFF2-40B4-BE49-F238E27FC236}">
                <a16:creationId xmlns:a16="http://schemas.microsoft.com/office/drawing/2014/main" id="{1DC96D72-E59A-2631-55D7-014E52294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794" y="1404181"/>
            <a:ext cx="5071399" cy="4346913"/>
          </a:xfrm>
          <a:prstGeom prst="rect">
            <a:avLst/>
          </a:prstGeom>
        </p:spPr>
      </p:pic>
      <p:pic>
        <p:nvPicPr>
          <p:cNvPr id="13" name="图片 12">
            <a:extLst>
              <a:ext uri="{FF2B5EF4-FFF2-40B4-BE49-F238E27FC236}">
                <a16:creationId xmlns:a16="http://schemas.microsoft.com/office/drawing/2014/main" id="{9A97A56B-13E8-05D4-8E12-979413B5A2E2}"/>
              </a:ext>
            </a:extLst>
          </p:cNvPr>
          <p:cNvPicPr>
            <a:picLocks noChangeAspect="1"/>
          </p:cNvPicPr>
          <p:nvPr/>
        </p:nvPicPr>
        <p:blipFill>
          <a:blip r:embed="rId4"/>
          <a:stretch>
            <a:fillRect/>
          </a:stretch>
        </p:blipFill>
        <p:spPr>
          <a:xfrm>
            <a:off x="6027006" y="1877929"/>
            <a:ext cx="5551375" cy="3343776"/>
          </a:xfrm>
          <a:prstGeom prst="rect">
            <a:avLst/>
          </a:prstGeom>
        </p:spPr>
      </p:pic>
    </p:spTree>
    <p:extLst>
      <p:ext uri="{BB962C8B-B14F-4D97-AF65-F5344CB8AC3E}">
        <p14:creationId xmlns:p14="http://schemas.microsoft.com/office/powerpoint/2010/main" val="297661607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86BB4-F03E-141F-EA3F-21F0EF6009D8}"/>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24D8F46F-655E-0F83-B1F9-E66F987452C3}"/>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851BC5F6-60A5-C71E-83D8-4F87A4399401}"/>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E88F0884-8CB9-2B44-635C-7448814B155B}"/>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5BDBD7CD-EEF7-4B8C-F809-2E009CD98792}"/>
              </a:ext>
            </a:extLst>
          </p:cNvPr>
          <p:cNvSpPr txBox="1"/>
          <p:nvPr/>
        </p:nvSpPr>
        <p:spPr>
          <a:xfrm>
            <a:off x="1617194" y="285043"/>
            <a:ext cx="4272264"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multivariate analysis</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95140855-EAEA-8D68-1169-3039F5DF3D1F}"/>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CEE5B710-FAE7-F0E3-A1FA-85B2ABA8CB2F}"/>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10;&#10;AI 生成的内容可能不正确。">
            <a:extLst>
              <a:ext uri="{FF2B5EF4-FFF2-40B4-BE49-F238E27FC236}">
                <a16:creationId xmlns:a16="http://schemas.microsoft.com/office/drawing/2014/main" id="{FD675EA9-57D6-99E4-8A42-76EC5535E6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50055" y="839432"/>
            <a:ext cx="5291889" cy="5669881"/>
          </a:xfrm>
          <a:prstGeom prst="rect">
            <a:avLst/>
          </a:prstGeom>
        </p:spPr>
      </p:pic>
    </p:spTree>
    <p:extLst>
      <p:ext uri="{BB962C8B-B14F-4D97-AF65-F5344CB8AC3E}">
        <p14:creationId xmlns:p14="http://schemas.microsoft.com/office/powerpoint/2010/main" val="183382662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A0D9C-BAE3-21F9-576C-959E377D9C08}"/>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973B228C-A748-1A5C-F45F-C1855A3F9F7C}"/>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A0F37544-C538-FB50-17A4-A293DBF34728}"/>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460F01B2-768D-A7A0-2828-86E81B5601B6}"/>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2D2A352D-ED95-CC78-1F37-98F15427722A}"/>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461A5A59-3FDA-032E-320F-2151B7B1689E}"/>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03</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AC10F837-D577-8550-A5D7-B4C6BC99744F}"/>
              </a:ext>
            </a:extLst>
          </p:cNvPr>
          <p:cNvSpPr txBox="1"/>
          <p:nvPr/>
        </p:nvSpPr>
        <p:spPr>
          <a:xfrm>
            <a:off x="6110514" y="4131820"/>
            <a:ext cx="5091413" cy="769441"/>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Data Processing</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58D2E60F-1684-AA92-5810-244F35ED48B2}"/>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CAF3F515-6E45-DBD2-8BE6-0418883F7395}"/>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141301856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1C865-6F75-1955-9979-C28F2D6F0CC3}"/>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1AFC7EE9-391A-D8B6-0BBD-BCE0DEE5DF87}"/>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8E613D9C-AFF3-387C-9351-695505E0B808}"/>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96E0887F-3A0C-AE4F-6F99-3A8D1C9BEC61}"/>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B67E067C-0B44-187E-732F-820CD86B1E7C}"/>
              </a:ext>
            </a:extLst>
          </p:cNvPr>
          <p:cNvSpPr txBox="1"/>
          <p:nvPr/>
        </p:nvSpPr>
        <p:spPr>
          <a:xfrm>
            <a:off x="1617194" y="285043"/>
            <a:ext cx="4272264"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Missing Values</a:t>
            </a:r>
          </a:p>
        </p:txBody>
      </p:sp>
      <p:sp>
        <p:nvSpPr>
          <p:cNvPr id="20" name="任意多边形 47">
            <a:extLst>
              <a:ext uri="{FF2B5EF4-FFF2-40B4-BE49-F238E27FC236}">
                <a16:creationId xmlns:a16="http://schemas.microsoft.com/office/drawing/2014/main" id="{743DD0B8-EA1C-FD5D-7D3E-ED8A8BFE931B}"/>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80169AEA-DC39-49FC-44AC-D23B27137C23}"/>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a:extLst>
              <a:ext uri="{FF2B5EF4-FFF2-40B4-BE49-F238E27FC236}">
                <a16:creationId xmlns:a16="http://schemas.microsoft.com/office/drawing/2014/main" id="{C07B4E20-BDEA-F4BE-B125-39D5567C7D57}"/>
              </a:ext>
            </a:extLst>
          </p:cNvPr>
          <p:cNvPicPr>
            <a:picLocks noChangeAspect="1"/>
          </p:cNvPicPr>
          <p:nvPr/>
        </p:nvPicPr>
        <p:blipFill>
          <a:blip r:embed="rId3"/>
          <a:stretch>
            <a:fillRect/>
          </a:stretch>
        </p:blipFill>
        <p:spPr>
          <a:xfrm>
            <a:off x="675650" y="1502445"/>
            <a:ext cx="4040543" cy="4146382"/>
          </a:xfrm>
          <a:prstGeom prst="rect">
            <a:avLst/>
          </a:prstGeom>
        </p:spPr>
      </p:pic>
      <p:sp>
        <p:nvSpPr>
          <p:cNvPr id="7" name="文本框 6">
            <a:extLst>
              <a:ext uri="{FF2B5EF4-FFF2-40B4-BE49-F238E27FC236}">
                <a16:creationId xmlns:a16="http://schemas.microsoft.com/office/drawing/2014/main" id="{56799AE3-2119-0EE4-2859-3C6E36E01501}"/>
              </a:ext>
            </a:extLst>
          </p:cNvPr>
          <p:cNvSpPr txBox="1"/>
          <p:nvPr/>
        </p:nvSpPr>
        <p:spPr>
          <a:xfrm>
            <a:off x="5502676" y="1581659"/>
            <a:ext cx="6097002" cy="2862322"/>
          </a:xfrm>
          <a:prstGeom prst="rect">
            <a:avLst/>
          </a:prstGeom>
          <a:noFill/>
        </p:spPr>
        <p:txBody>
          <a:bodyPr wrap="square">
            <a:spAutoFit/>
          </a:bodyPr>
          <a:lstStyle/>
          <a:p>
            <a:pPr marL="285750" indent="-285750">
              <a:buFont typeface="Arial" panose="020B0604020202020204" pitchFamily="34" charset="0"/>
              <a:buChar char="•"/>
            </a:pPr>
            <a:r>
              <a:rPr lang="en-US" altLang="zh-CN" dirty="0"/>
              <a:t>Used mode imputation for categorical features: </a:t>
            </a:r>
            <a:r>
              <a:rPr lang="en-US" altLang="zh-CN" dirty="0" err="1"/>
              <a:t>Credit_Sistory</a:t>
            </a:r>
            <a:r>
              <a:rPr lang="en-US" altLang="zh-CN" dirty="0"/>
              <a:t> with mode, Missing values for </a:t>
            </a:r>
            <a:r>
              <a:rPr lang="en-US" altLang="zh-CN" dirty="0" err="1"/>
              <a:t>Self_Employed</a:t>
            </a:r>
            <a:r>
              <a:rPr lang="en-US" altLang="zh-CN" dirty="0"/>
              <a:t>, Dependents, </a:t>
            </a:r>
            <a:r>
              <a:rPr lang="en-US" altLang="zh-CN" dirty="0" err="1"/>
              <a:t>Loan_Amount_Term</a:t>
            </a:r>
            <a:r>
              <a:rPr lang="en-US" altLang="zh-CN" dirty="0"/>
              <a:t>, Gender, Married.</a:t>
            </a:r>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r>
              <a:rPr lang="en-US" altLang="zh-CN" dirty="0"/>
              <a:t>Used median imputation for numerical feature Loan Amount. (The data distribution of </a:t>
            </a:r>
            <a:r>
              <a:rPr lang="en-US" altLang="zh-CN" dirty="0" err="1"/>
              <a:t>LoanAmount</a:t>
            </a:r>
            <a:r>
              <a:rPr lang="en-US" altLang="zh-CN" dirty="0"/>
              <a:t> indicates the presence of outliers in the loan amount, so mean imputation is not used because the mean is greatly affected by outliers)</a:t>
            </a:r>
          </a:p>
        </p:txBody>
      </p:sp>
    </p:spTree>
    <p:extLst>
      <p:ext uri="{BB962C8B-B14F-4D97-AF65-F5344CB8AC3E}">
        <p14:creationId xmlns:p14="http://schemas.microsoft.com/office/powerpoint/2010/main" val="16083465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E536F-C348-4BEB-0E79-ABFD2F6F9E04}"/>
            </a:ext>
          </a:extLst>
        </p:cNvPr>
        <p:cNvGrpSpPr/>
        <p:nvPr/>
      </p:nvGrpSpPr>
      <p:grpSpPr>
        <a:xfrm>
          <a:off x="0" y="0"/>
          <a:ext cx="0" cy="0"/>
          <a:chOff x="0" y="0"/>
          <a:chExt cx="0" cy="0"/>
        </a:xfrm>
      </p:grpSpPr>
      <p:sp>
        <p:nvSpPr>
          <p:cNvPr id="34" name="矩形 33">
            <a:extLst>
              <a:ext uri="{FF2B5EF4-FFF2-40B4-BE49-F238E27FC236}">
                <a16:creationId xmlns:a16="http://schemas.microsoft.com/office/drawing/2014/main" id="{A2606D1E-16CC-EB82-5267-83D477BF8010}"/>
              </a:ext>
            </a:extLst>
          </p:cNvPr>
          <p:cNvSpPr/>
          <p:nvPr/>
        </p:nvSpPr>
        <p:spPr>
          <a:xfrm>
            <a:off x="4795241" y="3845180"/>
            <a:ext cx="2728517"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solidFill>
                  <a:schemeClr val="bg1"/>
                </a:solidFill>
                <a:cs typeface="+mn-ea"/>
                <a:sym typeface="+mn-lt"/>
              </a:rPr>
              <a:t>请在此处输入文本内容可根据需要修改文字的小和数字请在此处输入请在此处请在此处输入</a:t>
            </a:r>
          </a:p>
        </p:txBody>
      </p:sp>
      <p:sp>
        <p:nvSpPr>
          <p:cNvPr id="47" name="椭圆 13">
            <a:extLst>
              <a:ext uri="{FF2B5EF4-FFF2-40B4-BE49-F238E27FC236}">
                <a16:creationId xmlns:a16="http://schemas.microsoft.com/office/drawing/2014/main" id="{911E8BA5-152C-5BF8-B7C3-5B831CEAC54F}"/>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5B987617-08A2-53B5-5118-6CFD2B125EAB}"/>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31BD70A2-2E2F-A929-346B-053300CBB250}"/>
              </a:ext>
            </a:extLst>
          </p:cNvPr>
          <p:cNvSpPr txBox="1"/>
          <p:nvPr/>
        </p:nvSpPr>
        <p:spPr>
          <a:xfrm>
            <a:off x="1617194" y="285043"/>
            <a:ext cx="4272264" cy="523220"/>
          </a:xfrm>
          <a:prstGeom prst="rect">
            <a:avLst/>
          </a:prstGeom>
          <a:noFill/>
        </p:spPr>
        <p:txBody>
          <a:bodyPr wrap="square" rtlCol="0">
            <a:spAutoFit/>
            <a:scene3d>
              <a:camera prst="orthographicFront"/>
              <a:lightRig rig="threePt" dir="t"/>
            </a:scene3d>
            <a:sp3d contourW="12700"/>
          </a:bodyPr>
          <a:lstStyle/>
          <a:p>
            <a:r>
              <a:rPr lang="en-US" altLang="zh-CN" sz="2800" b="1" dirty="0">
                <a:solidFill>
                  <a:schemeClr val="accent2"/>
                </a:solidFill>
                <a:cs typeface="+mn-ea"/>
                <a:sym typeface="+mn-lt"/>
              </a:rPr>
              <a:t>Outliers</a:t>
            </a:r>
          </a:p>
        </p:txBody>
      </p:sp>
      <p:sp>
        <p:nvSpPr>
          <p:cNvPr id="20" name="任意多边形 47">
            <a:extLst>
              <a:ext uri="{FF2B5EF4-FFF2-40B4-BE49-F238E27FC236}">
                <a16:creationId xmlns:a16="http://schemas.microsoft.com/office/drawing/2014/main" id="{56B841C5-DFBB-9460-5844-832ADB9A03F0}"/>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5BEBCE09-44E0-BDA7-4BC8-8F628D8F8FBB}"/>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descr="图表, 直方图&#10;&#10;AI 生成的内容可能不正确。">
            <a:extLst>
              <a:ext uri="{FF2B5EF4-FFF2-40B4-BE49-F238E27FC236}">
                <a16:creationId xmlns:a16="http://schemas.microsoft.com/office/drawing/2014/main" id="{D4E945EE-6643-D07A-3A8C-406905731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874" y="1825792"/>
            <a:ext cx="3789948" cy="2526632"/>
          </a:xfrm>
          <a:prstGeom prst="rect">
            <a:avLst/>
          </a:prstGeom>
        </p:spPr>
      </p:pic>
      <p:pic>
        <p:nvPicPr>
          <p:cNvPr id="6" name="图片 5" descr="图表, 直方图&#10;&#10;AI 生成的内容可能不正确。">
            <a:extLst>
              <a:ext uri="{FF2B5EF4-FFF2-40B4-BE49-F238E27FC236}">
                <a16:creationId xmlns:a16="http://schemas.microsoft.com/office/drawing/2014/main" id="{B7EF34D5-A02E-68C9-6997-46D8FAB0B6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4296" y="1907004"/>
            <a:ext cx="3668129" cy="2445419"/>
          </a:xfrm>
          <a:prstGeom prst="rect">
            <a:avLst/>
          </a:prstGeom>
        </p:spPr>
      </p:pic>
      <p:pic>
        <p:nvPicPr>
          <p:cNvPr id="8" name="图片 7" descr="图表, 直方图&#10;&#10;AI 生成的内容可能不正确。">
            <a:extLst>
              <a:ext uri="{FF2B5EF4-FFF2-40B4-BE49-F238E27FC236}">
                <a16:creationId xmlns:a16="http://schemas.microsoft.com/office/drawing/2014/main" id="{99337CA8-6619-A2EF-8106-42A2432B3A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74244" y="1907004"/>
            <a:ext cx="3668129" cy="2445419"/>
          </a:xfrm>
          <a:prstGeom prst="rect">
            <a:avLst/>
          </a:prstGeom>
        </p:spPr>
      </p:pic>
    </p:spTree>
    <p:extLst>
      <p:ext uri="{BB962C8B-B14F-4D97-AF65-F5344CB8AC3E}">
        <p14:creationId xmlns:p14="http://schemas.microsoft.com/office/powerpoint/2010/main" val="169932535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17E6A-7A31-6AB4-B081-C24011E1DB77}"/>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9A83C2CE-9220-7CD1-E933-2310E9C2D50B}"/>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1B1439EA-121C-116E-22CC-2758B994D5DC}"/>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0FAFD194-A7CF-EBD3-D685-0BE75D4E6407}"/>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E59FFABD-A5A7-5DE2-903E-25C7EC91A4CA}"/>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1621AB16-C349-297D-874A-5419C91A0D5A}"/>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04</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352EC17D-ED19-707A-5499-AC599A3C375C}"/>
              </a:ext>
            </a:extLst>
          </p:cNvPr>
          <p:cNvSpPr txBox="1"/>
          <p:nvPr/>
        </p:nvSpPr>
        <p:spPr>
          <a:xfrm>
            <a:off x="6110514" y="4131820"/>
            <a:ext cx="5091413" cy="769441"/>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Data Modeling</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C59961EF-1900-75DD-57B0-F500C89C9006}"/>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A48F2358-53F9-7C6A-23DB-627470D51718}"/>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1426947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83E87-110E-7BEB-AEFB-A70FC046FEC9}"/>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FC11311C-C140-B58C-DE04-62D0AB30C305}"/>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749EB722-2CCC-9375-FFD3-3ACBD17A9BAD}"/>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3B3B30A8-9EA7-50B4-EE71-1812B3458CA3}"/>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6BB8EAA3-1C4B-DC56-5E2E-92DC714B7561}"/>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a:extLst>
              <a:ext uri="{FF2B5EF4-FFF2-40B4-BE49-F238E27FC236}">
                <a16:creationId xmlns:a16="http://schemas.microsoft.com/office/drawing/2014/main" id="{8107D7F7-D167-6421-82DF-2637783574F9}"/>
              </a:ext>
            </a:extLst>
          </p:cNvPr>
          <p:cNvPicPr>
            <a:picLocks noChangeAspect="1"/>
          </p:cNvPicPr>
          <p:nvPr/>
        </p:nvPicPr>
        <p:blipFill>
          <a:blip r:embed="rId3"/>
          <a:stretch>
            <a:fillRect/>
          </a:stretch>
        </p:blipFill>
        <p:spPr>
          <a:xfrm>
            <a:off x="1427747" y="916508"/>
            <a:ext cx="9336506" cy="5024984"/>
          </a:xfrm>
          <a:prstGeom prst="rect">
            <a:avLst/>
          </a:prstGeom>
        </p:spPr>
      </p:pic>
    </p:spTree>
    <p:extLst>
      <p:ext uri="{BB962C8B-B14F-4D97-AF65-F5344CB8AC3E}">
        <p14:creationId xmlns:p14="http://schemas.microsoft.com/office/powerpoint/2010/main" val="47669027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AF679-0D6C-E660-46E4-2579B3505A95}"/>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F66D4D13-2A5E-BDB3-C0FB-FFC81D1AAE38}"/>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835A87C0-BB6F-C3B4-7DB1-A8F2A66012EB}"/>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4DA812FF-F1F7-D58A-C5D8-51B7336A986B}"/>
              </a:ext>
            </a:extLst>
          </p:cNvPr>
          <p:cNvSpPr txBox="1"/>
          <p:nvPr/>
        </p:nvSpPr>
        <p:spPr>
          <a:xfrm>
            <a:off x="1740503" y="450599"/>
            <a:ext cx="3621504"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2"/>
                </a:solidFill>
                <a:cs typeface="+mn-ea"/>
                <a:sym typeface="+mn-lt"/>
              </a:rPr>
              <a:t>Logistic Regression</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E7CEEF22-A99C-CC26-741F-FE08DA53F795}"/>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744B7C76-60CB-E862-9766-086191D82705}"/>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8" name="图片 7">
            <a:extLst>
              <a:ext uri="{FF2B5EF4-FFF2-40B4-BE49-F238E27FC236}">
                <a16:creationId xmlns:a16="http://schemas.microsoft.com/office/drawing/2014/main" id="{2BC223A5-29A8-FAC5-2CC3-22AA108254A5}"/>
              </a:ext>
            </a:extLst>
          </p:cNvPr>
          <p:cNvPicPr>
            <a:picLocks noChangeAspect="1"/>
          </p:cNvPicPr>
          <p:nvPr/>
        </p:nvPicPr>
        <p:blipFill>
          <a:blip r:embed="rId3"/>
          <a:stretch>
            <a:fillRect/>
          </a:stretch>
        </p:blipFill>
        <p:spPr>
          <a:xfrm>
            <a:off x="2212111" y="1144617"/>
            <a:ext cx="7767777" cy="5262784"/>
          </a:xfrm>
          <a:prstGeom prst="rect">
            <a:avLst/>
          </a:prstGeom>
        </p:spPr>
      </p:pic>
    </p:spTree>
    <p:extLst>
      <p:ext uri="{BB962C8B-B14F-4D97-AF65-F5344CB8AC3E}">
        <p14:creationId xmlns:p14="http://schemas.microsoft.com/office/powerpoint/2010/main" val="34807487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F609E-D43C-BADB-831C-F7B804A7D9DC}"/>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81FEBDF9-23C7-1AD3-C4DE-6162F9C20E50}"/>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59BA2E17-B498-705C-340E-9022AAC5665E}"/>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08189B29-E16E-1EE2-FB17-1E20226A92E3}"/>
              </a:ext>
            </a:extLst>
          </p:cNvPr>
          <p:cNvSpPr txBox="1"/>
          <p:nvPr/>
        </p:nvSpPr>
        <p:spPr>
          <a:xfrm>
            <a:off x="1740503" y="450599"/>
            <a:ext cx="1284326"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2"/>
                </a:solidFill>
                <a:cs typeface="+mn-ea"/>
                <a:sym typeface="+mn-lt"/>
              </a:rPr>
              <a:t>Result</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DD01F21B-899D-7824-F6AD-D737C8DF8E0B}"/>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C74ADF6A-C8B0-8542-4A07-54B4A61BAEB2}"/>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a:extLst>
              <a:ext uri="{FF2B5EF4-FFF2-40B4-BE49-F238E27FC236}">
                <a16:creationId xmlns:a16="http://schemas.microsoft.com/office/drawing/2014/main" id="{CB401A9F-45C4-0C3F-92A9-2A26BAF78434}"/>
              </a:ext>
            </a:extLst>
          </p:cNvPr>
          <p:cNvPicPr>
            <a:picLocks noChangeAspect="1"/>
          </p:cNvPicPr>
          <p:nvPr/>
        </p:nvPicPr>
        <p:blipFill>
          <a:blip r:embed="rId3"/>
          <a:stretch>
            <a:fillRect/>
          </a:stretch>
        </p:blipFill>
        <p:spPr>
          <a:xfrm>
            <a:off x="1939024" y="2109254"/>
            <a:ext cx="7773352" cy="1875922"/>
          </a:xfrm>
          <a:prstGeom prst="rect">
            <a:avLst/>
          </a:prstGeom>
        </p:spPr>
      </p:pic>
    </p:spTree>
    <p:extLst>
      <p:ext uri="{BB962C8B-B14F-4D97-AF65-F5344CB8AC3E}">
        <p14:creationId xmlns:p14="http://schemas.microsoft.com/office/powerpoint/2010/main" val="648833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1D251-DC79-9B47-13C2-18F795EEA043}"/>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1684CE97-0484-46BD-576C-F399208E6830}"/>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69185226-94E0-7DCF-823C-E6885C1A314A}"/>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18" name="文本框 17">
            <a:extLst>
              <a:ext uri="{FF2B5EF4-FFF2-40B4-BE49-F238E27FC236}">
                <a16:creationId xmlns:a16="http://schemas.microsoft.com/office/drawing/2014/main" id="{CF694CB2-0702-46FD-F22C-4E776E0C05BA}"/>
              </a:ext>
            </a:extLst>
          </p:cNvPr>
          <p:cNvSpPr txBox="1"/>
          <p:nvPr/>
        </p:nvSpPr>
        <p:spPr>
          <a:xfrm>
            <a:off x="1740503" y="450599"/>
            <a:ext cx="2141933"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2"/>
                </a:solidFill>
                <a:cs typeface="+mn-ea"/>
                <a:sym typeface="+mn-lt"/>
              </a:rPr>
              <a:t>Conclusion</a:t>
            </a:r>
            <a:endParaRPr lang="zh-CN" altLang="en-US" sz="2800" b="1" dirty="0">
              <a:solidFill>
                <a:schemeClr val="accent2"/>
              </a:solidFill>
              <a:cs typeface="+mn-ea"/>
              <a:sym typeface="+mn-lt"/>
            </a:endParaRPr>
          </a:p>
        </p:txBody>
      </p:sp>
      <p:sp>
        <p:nvSpPr>
          <p:cNvPr id="20" name="任意多边形 47">
            <a:extLst>
              <a:ext uri="{FF2B5EF4-FFF2-40B4-BE49-F238E27FC236}">
                <a16:creationId xmlns:a16="http://schemas.microsoft.com/office/drawing/2014/main" id="{5953832B-0640-B8E1-8C8F-46C2553DC79D}"/>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E995823B-A887-1D99-0FB2-BC11BAAFC834}"/>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 name="文本框 3">
            <a:extLst>
              <a:ext uri="{FF2B5EF4-FFF2-40B4-BE49-F238E27FC236}">
                <a16:creationId xmlns:a16="http://schemas.microsoft.com/office/drawing/2014/main" id="{94936B27-65FE-A7C8-13BB-8D99205C0457}"/>
              </a:ext>
            </a:extLst>
          </p:cNvPr>
          <p:cNvSpPr txBox="1"/>
          <p:nvPr/>
        </p:nvSpPr>
        <p:spPr>
          <a:xfrm>
            <a:off x="1740503" y="1536174"/>
            <a:ext cx="9149444" cy="3785652"/>
          </a:xfrm>
          <a:prstGeom prst="rect">
            <a:avLst/>
          </a:prstGeom>
          <a:noFill/>
        </p:spPr>
        <p:txBody>
          <a:bodyPr wrap="square">
            <a:spAutoFit/>
          </a:bodyPr>
          <a:lstStyle/>
          <a:p>
            <a:pPr marL="285750" indent="-285750">
              <a:buFont typeface="Arial" panose="020B0604020202020204" pitchFamily="34" charset="0"/>
              <a:buChar char="•"/>
            </a:pPr>
            <a:r>
              <a:rPr lang="zh-CN" altLang="en-US" sz="2400" dirty="0">
                <a:latin typeface="+mj-lt"/>
              </a:rPr>
              <a:t>Data analysis (univariate, bivariate, multivariate)</a:t>
            </a:r>
            <a:endParaRPr lang="en-US" altLang="zh-CN" sz="2400" dirty="0">
              <a:latin typeface="+mj-lt"/>
            </a:endParaRPr>
          </a:p>
          <a:p>
            <a:endParaRPr lang="en-US" altLang="zh-CN" sz="2400" dirty="0">
              <a:latin typeface="+mj-lt"/>
            </a:endParaRPr>
          </a:p>
          <a:p>
            <a:pPr marL="285750" indent="-285750">
              <a:buFont typeface="Arial" panose="020B0604020202020204" pitchFamily="34" charset="0"/>
              <a:buChar char="•"/>
            </a:pPr>
            <a:r>
              <a:rPr lang="en-US" altLang="zh-CN" sz="2400" dirty="0">
                <a:latin typeface="+mj-lt"/>
              </a:rPr>
              <a:t>D</a:t>
            </a:r>
            <a:r>
              <a:rPr lang="zh-CN" altLang="en-US" sz="2400" dirty="0">
                <a:latin typeface="+mj-lt"/>
              </a:rPr>
              <a:t>ata processing (missing values, outliers, categorical encoding, </a:t>
            </a:r>
            <a:r>
              <a:rPr lang="en-US" altLang="zh-CN" sz="2400" dirty="0">
                <a:latin typeface="+mj-lt"/>
              </a:rPr>
              <a:t>Normalization</a:t>
            </a:r>
            <a:r>
              <a:rPr lang="zh-CN" altLang="en-US" sz="2400" dirty="0">
                <a:latin typeface="+mj-lt"/>
              </a:rPr>
              <a:t>)</a:t>
            </a:r>
            <a:endParaRPr lang="en-US" altLang="zh-CN" sz="2400" dirty="0">
              <a:latin typeface="+mj-lt"/>
            </a:endParaRPr>
          </a:p>
          <a:p>
            <a:endParaRPr lang="en-US" altLang="zh-CN" sz="2400" dirty="0">
              <a:latin typeface="+mj-lt"/>
            </a:endParaRPr>
          </a:p>
          <a:p>
            <a:pPr marL="285750" indent="-285750">
              <a:buFont typeface="Arial" panose="020B0604020202020204" pitchFamily="34" charset="0"/>
              <a:buChar char="•"/>
            </a:pPr>
            <a:r>
              <a:rPr lang="en-US" altLang="zh-CN" sz="2400" dirty="0">
                <a:latin typeface="+mj-lt"/>
              </a:rPr>
              <a:t>H</a:t>
            </a:r>
            <a:r>
              <a:rPr lang="zh-CN" altLang="en-US" sz="2400" dirty="0">
                <a:latin typeface="+mj-lt"/>
              </a:rPr>
              <a:t>ypothesis validation</a:t>
            </a:r>
            <a:endParaRPr lang="en-US" altLang="zh-CN" sz="2400" dirty="0">
              <a:latin typeface="+mj-lt"/>
            </a:endParaRPr>
          </a:p>
          <a:p>
            <a:pPr marL="285750" indent="-285750">
              <a:buFont typeface="Arial" panose="020B0604020202020204" pitchFamily="34" charset="0"/>
              <a:buChar char="•"/>
            </a:pPr>
            <a:endParaRPr lang="en-US" altLang="zh-CN" sz="2400" dirty="0">
              <a:latin typeface="+mj-lt"/>
            </a:endParaRPr>
          </a:p>
          <a:p>
            <a:pPr marL="285750" indent="-285750">
              <a:buFont typeface="Arial" panose="020B0604020202020204" pitchFamily="34" charset="0"/>
              <a:buChar char="•"/>
            </a:pPr>
            <a:r>
              <a:rPr lang="en-US" altLang="zh-CN" sz="2400" dirty="0">
                <a:latin typeface="+mj-lt"/>
              </a:rPr>
              <a:t>F</a:t>
            </a:r>
            <a:r>
              <a:rPr lang="zh-CN" altLang="en-US" sz="2400" dirty="0">
                <a:latin typeface="+mj-lt"/>
              </a:rPr>
              <a:t>eature engineering (creating new variables)</a:t>
            </a:r>
            <a:endParaRPr lang="en-US" altLang="zh-CN" sz="2400" dirty="0">
              <a:latin typeface="+mj-lt"/>
            </a:endParaRPr>
          </a:p>
          <a:p>
            <a:pPr marL="285750" indent="-285750">
              <a:buFont typeface="Arial" panose="020B0604020202020204" pitchFamily="34" charset="0"/>
              <a:buChar char="•"/>
            </a:pPr>
            <a:endParaRPr lang="en-US" altLang="zh-CN" sz="2400" dirty="0">
              <a:latin typeface="+mj-lt"/>
            </a:endParaRPr>
          </a:p>
          <a:p>
            <a:pPr marL="285750" indent="-285750">
              <a:buFont typeface="Arial" panose="020B0604020202020204" pitchFamily="34" charset="0"/>
              <a:buChar char="•"/>
            </a:pPr>
            <a:r>
              <a:rPr lang="en-US" altLang="zh-CN" sz="2400" dirty="0">
                <a:latin typeface="+mj-lt"/>
              </a:rPr>
              <a:t>L</a:t>
            </a:r>
            <a:r>
              <a:rPr lang="zh-CN" altLang="en-US" sz="2400" dirty="0">
                <a:latin typeface="+mj-lt"/>
              </a:rPr>
              <a:t>ogistic regression model training</a:t>
            </a:r>
          </a:p>
        </p:txBody>
      </p:sp>
    </p:spTree>
    <p:extLst>
      <p:ext uri="{BB962C8B-B14F-4D97-AF65-F5344CB8AC3E}">
        <p14:creationId xmlns:p14="http://schemas.microsoft.com/office/powerpoint/2010/main" val="195469441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1A490-AD08-7734-4FD8-6C9F5510EC59}"/>
            </a:ext>
          </a:extLst>
        </p:cNvPr>
        <p:cNvGrpSpPr/>
        <p:nvPr/>
      </p:nvGrpSpPr>
      <p:grpSpPr>
        <a:xfrm>
          <a:off x="0" y="0"/>
          <a:ext cx="0" cy="0"/>
          <a:chOff x="0" y="0"/>
          <a:chExt cx="0" cy="0"/>
        </a:xfrm>
      </p:grpSpPr>
      <p:sp>
        <p:nvSpPr>
          <p:cNvPr id="29" name="任意多边形 28">
            <a:extLst>
              <a:ext uri="{FF2B5EF4-FFF2-40B4-BE49-F238E27FC236}">
                <a16:creationId xmlns:a16="http://schemas.microsoft.com/office/drawing/2014/main" id="{A8759890-C74C-C1F0-8644-91391EFC4158}"/>
              </a:ext>
            </a:extLst>
          </p:cNvPr>
          <p:cNvSpPr/>
          <p:nvPr/>
        </p:nvSpPr>
        <p:spPr>
          <a:xfrm rot="2700000">
            <a:off x="9330371" y="916648"/>
            <a:ext cx="1420687" cy="1427783"/>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CAB23ED9-1E05-4414-4B2E-B3EF3C848FAD}"/>
              </a:ext>
            </a:extLst>
          </p:cNvPr>
          <p:cNvSpPr/>
          <p:nvPr/>
        </p:nvSpPr>
        <p:spPr>
          <a:xfrm rot="2700000">
            <a:off x="3117460" y="-89875"/>
            <a:ext cx="7004023" cy="7037748"/>
          </a:xfrm>
          <a:custGeom>
            <a:avLst/>
            <a:gdLst>
              <a:gd name="connsiteX0" fmla="*/ 0 w 7004023"/>
              <a:gd name="connsiteY0" fmla="*/ 2171546 h 7037748"/>
              <a:gd name="connsiteX1" fmla="*/ 1740201 w 7004023"/>
              <a:gd name="connsiteY1" fmla="*/ 431345 h 7037748"/>
              <a:gd name="connsiteX2" fmla="*/ 1740202 w 7004023"/>
              <a:gd name="connsiteY2" fmla="*/ 431345 h 7037748"/>
              <a:gd name="connsiteX3" fmla="*/ 2171547 w 7004023"/>
              <a:gd name="connsiteY3" fmla="*/ 0 h 7037748"/>
              <a:gd name="connsiteX4" fmla="*/ 6358431 w 7004023"/>
              <a:gd name="connsiteY4" fmla="*/ 0 h 7037748"/>
              <a:gd name="connsiteX5" fmla="*/ 7004023 w 7004023"/>
              <a:gd name="connsiteY5" fmla="*/ 645592 h 7037748"/>
              <a:gd name="connsiteX6" fmla="*/ 7004022 w 7004023"/>
              <a:gd name="connsiteY6" fmla="*/ 4866202 h 7037748"/>
              <a:gd name="connsiteX7" fmla="*/ 5263822 w 7004023"/>
              <a:gd name="connsiteY7" fmla="*/ 6606403 h 7037748"/>
              <a:gd name="connsiteX8" fmla="*/ 5263822 w 7004023"/>
              <a:gd name="connsiteY8" fmla="*/ 6606401 h 7037748"/>
              <a:gd name="connsiteX9" fmla="*/ 4832475 w 7004023"/>
              <a:gd name="connsiteY9" fmla="*/ 7037748 h 7037748"/>
              <a:gd name="connsiteX10" fmla="*/ 4832474 w 7004023"/>
              <a:gd name="connsiteY10" fmla="*/ 2171546 h 703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4023" h="7037748">
                <a:moveTo>
                  <a:pt x="0" y="2171546"/>
                </a:moveTo>
                <a:lnTo>
                  <a:pt x="1740201" y="431345"/>
                </a:lnTo>
                <a:lnTo>
                  <a:pt x="1740202" y="431345"/>
                </a:lnTo>
                <a:lnTo>
                  <a:pt x="2171547" y="0"/>
                </a:lnTo>
                <a:lnTo>
                  <a:pt x="6358431" y="0"/>
                </a:lnTo>
                <a:cubicBezTo>
                  <a:pt x="6714981" y="0"/>
                  <a:pt x="7004023" y="289042"/>
                  <a:pt x="7004023" y="645592"/>
                </a:cubicBezTo>
                <a:lnTo>
                  <a:pt x="7004022" y="4866202"/>
                </a:lnTo>
                <a:lnTo>
                  <a:pt x="5263822" y="6606403"/>
                </a:lnTo>
                <a:lnTo>
                  <a:pt x="5263822" y="6606401"/>
                </a:lnTo>
                <a:lnTo>
                  <a:pt x="4832475" y="7037748"/>
                </a:lnTo>
                <a:lnTo>
                  <a:pt x="4832474" y="2171546"/>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任意多边形 21">
            <a:extLst>
              <a:ext uri="{FF2B5EF4-FFF2-40B4-BE49-F238E27FC236}">
                <a16:creationId xmlns:a16="http://schemas.microsoft.com/office/drawing/2014/main" id="{00C1BE0B-A075-DFED-1B56-CE6F5D9C481A}"/>
              </a:ext>
            </a:extLst>
          </p:cNvPr>
          <p:cNvSpPr/>
          <p:nvPr/>
        </p:nvSpPr>
        <p:spPr>
          <a:xfrm rot="2700000">
            <a:off x="6098536" y="2488658"/>
            <a:ext cx="4353560" cy="4231886"/>
          </a:xfrm>
          <a:custGeom>
            <a:avLst/>
            <a:gdLst>
              <a:gd name="connsiteX0" fmla="*/ 0 w 4353560"/>
              <a:gd name="connsiteY0" fmla="*/ 1105934 h 4231886"/>
              <a:gd name="connsiteX1" fmla="*/ 1105935 w 4353560"/>
              <a:gd name="connsiteY1" fmla="*/ 0 h 4231886"/>
              <a:gd name="connsiteX2" fmla="*/ 3943273 w 4353560"/>
              <a:gd name="connsiteY2" fmla="*/ 0 h 4231886"/>
              <a:gd name="connsiteX3" fmla="*/ 4353560 w 4353560"/>
              <a:gd name="connsiteY3" fmla="*/ 410287 h 4231886"/>
              <a:gd name="connsiteX4" fmla="*/ 4353560 w 4353560"/>
              <a:gd name="connsiteY4" fmla="*/ 3125951 h 4231886"/>
              <a:gd name="connsiteX5" fmla="*/ 3247625 w 4353560"/>
              <a:gd name="connsiteY5" fmla="*/ 4231886 h 4231886"/>
              <a:gd name="connsiteX6" fmla="*/ 3247625 w 4353560"/>
              <a:gd name="connsiteY6" fmla="*/ 1105934 h 423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3560" h="4231886">
                <a:moveTo>
                  <a:pt x="0" y="1105934"/>
                </a:moveTo>
                <a:lnTo>
                  <a:pt x="1105935" y="0"/>
                </a:lnTo>
                <a:lnTo>
                  <a:pt x="3943273" y="0"/>
                </a:lnTo>
                <a:cubicBezTo>
                  <a:pt x="4169868" y="0"/>
                  <a:pt x="4353560" y="183692"/>
                  <a:pt x="4353560" y="410287"/>
                </a:cubicBezTo>
                <a:lnTo>
                  <a:pt x="4353560" y="3125951"/>
                </a:lnTo>
                <a:lnTo>
                  <a:pt x="3247625" y="4231886"/>
                </a:lnTo>
                <a:lnTo>
                  <a:pt x="3247625" y="1105934"/>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83615194-48E9-F787-99BB-C47FB05750CE}"/>
              </a:ext>
            </a:extLst>
          </p:cNvPr>
          <p:cNvSpPr/>
          <p:nvPr/>
        </p:nvSpPr>
        <p:spPr>
          <a:xfrm rot="2700000">
            <a:off x="5271643" y="433691"/>
            <a:ext cx="4706557" cy="47300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文本框 22">
            <a:extLst>
              <a:ext uri="{FF2B5EF4-FFF2-40B4-BE49-F238E27FC236}">
                <a16:creationId xmlns:a16="http://schemas.microsoft.com/office/drawing/2014/main" id="{9FD884F5-E831-9159-5982-68DD36295EED}"/>
              </a:ext>
            </a:extLst>
          </p:cNvPr>
          <p:cNvSpPr txBox="1"/>
          <p:nvPr/>
        </p:nvSpPr>
        <p:spPr>
          <a:xfrm>
            <a:off x="914280" y="1879625"/>
            <a:ext cx="2459328" cy="461665"/>
          </a:xfrm>
          <a:prstGeom prst="rect">
            <a:avLst/>
          </a:prstGeom>
          <a:noFill/>
        </p:spPr>
        <p:txBody>
          <a:bodyPr wrap="none" rtlCol="0">
            <a:spAutoFit/>
            <a:scene3d>
              <a:camera prst="orthographicFront"/>
              <a:lightRig rig="threePt" dir="t"/>
            </a:scene3d>
            <a:sp3d contourW="12700"/>
          </a:bodyPr>
          <a:lstStyle/>
          <a:p>
            <a:r>
              <a:rPr lang="en-US" altLang="zh-CN" sz="2400" b="1" dirty="0">
                <a:solidFill>
                  <a:srgbClr val="5D999F"/>
                </a:solidFill>
                <a:cs typeface="+mn-ea"/>
                <a:sym typeface="+mn-lt"/>
              </a:rPr>
              <a:t>Midterm Report</a:t>
            </a:r>
            <a:endParaRPr lang="zh-CN" altLang="en-US" sz="2400" b="1" dirty="0">
              <a:solidFill>
                <a:srgbClr val="5D999F"/>
              </a:solidFill>
              <a:cs typeface="+mn-ea"/>
              <a:sym typeface="+mn-lt"/>
            </a:endParaRPr>
          </a:p>
        </p:txBody>
      </p:sp>
      <p:sp>
        <p:nvSpPr>
          <p:cNvPr id="24" name="文本框 23">
            <a:extLst>
              <a:ext uri="{FF2B5EF4-FFF2-40B4-BE49-F238E27FC236}">
                <a16:creationId xmlns:a16="http://schemas.microsoft.com/office/drawing/2014/main" id="{5FA0ECE8-3B24-0111-AD87-65E8F2304421}"/>
              </a:ext>
            </a:extLst>
          </p:cNvPr>
          <p:cNvSpPr txBox="1"/>
          <p:nvPr/>
        </p:nvSpPr>
        <p:spPr>
          <a:xfrm>
            <a:off x="897936" y="2422477"/>
            <a:ext cx="6916463" cy="2123658"/>
          </a:xfrm>
          <a:prstGeom prst="rect">
            <a:avLst/>
          </a:prstGeom>
          <a:noFill/>
        </p:spPr>
        <p:txBody>
          <a:bodyPr wrap="square" rtlCol="0">
            <a:spAutoFit/>
            <a:scene3d>
              <a:camera prst="orthographicFront"/>
              <a:lightRig rig="threePt" dir="t"/>
            </a:scene3d>
            <a:sp3d contourW="12700"/>
          </a:bodyPr>
          <a:lstStyle/>
          <a:p>
            <a:r>
              <a:rPr lang="en-US" altLang="zh-CN" sz="6600" b="1" dirty="0">
                <a:solidFill>
                  <a:schemeClr val="tx1">
                    <a:lumMod val="75000"/>
                    <a:lumOff val="25000"/>
                  </a:schemeClr>
                </a:solidFill>
                <a:cs typeface="+mn-ea"/>
                <a:sym typeface="+mn-lt"/>
              </a:rPr>
              <a:t>THANKS FOR WATCHING</a:t>
            </a:r>
            <a:endParaRPr lang="zh-CN" altLang="en-US" sz="6600" b="1" dirty="0">
              <a:solidFill>
                <a:schemeClr val="tx1">
                  <a:lumMod val="75000"/>
                  <a:lumOff val="25000"/>
                </a:schemeClr>
              </a:solidFill>
              <a:cs typeface="+mn-ea"/>
              <a:sym typeface="+mn-lt"/>
            </a:endParaRPr>
          </a:p>
        </p:txBody>
      </p:sp>
      <p:grpSp>
        <p:nvGrpSpPr>
          <p:cNvPr id="26" name="组合 25">
            <a:extLst>
              <a:ext uri="{FF2B5EF4-FFF2-40B4-BE49-F238E27FC236}">
                <a16:creationId xmlns:a16="http://schemas.microsoft.com/office/drawing/2014/main" id="{661903C0-EE87-8D02-A54A-EDA90D129321}"/>
              </a:ext>
            </a:extLst>
          </p:cNvPr>
          <p:cNvGrpSpPr/>
          <p:nvPr/>
        </p:nvGrpSpPr>
        <p:grpSpPr>
          <a:xfrm>
            <a:off x="4789797" y="5849975"/>
            <a:ext cx="2767734" cy="316802"/>
            <a:chOff x="1244534" y="3522134"/>
            <a:chExt cx="2767734" cy="316802"/>
          </a:xfrm>
          <a:solidFill>
            <a:srgbClr val="5D999F"/>
          </a:solidFill>
        </p:grpSpPr>
        <p:sp>
          <p:nvSpPr>
            <p:cNvPr id="27" name="矩形 26">
              <a:extLst>
                <a:ext uri="{FF2B5EF4-FFF2-40B4-BE49-F238E27FC236}">
                  <a16:creationId xmlns:a16="http://schemas.microsoft.com/office/drawing/2014/main" id="{5401D80D-A1EF-14B8-4CE4-301B0D8F99AA}"/>
                </a:ext>
              </a:extLst>
            </p:cNvPr>
            <p:cNvSpPr/>
            <p:nvPr/>
          </p:nvSpPr>
          <p:spPr>
            <a:xfrm>
              <a:off x="1244534" y="3522134"/>
              <a:ext cx="2767734" cy="31680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文本框 27">
              <a:extLst>
                <a:ext uri="{FF2B5EF4-FFF2-40B4-BE49-F238E27FC236}">
                  <a16:creationId xmlns:a16="http://schemas.microsoft.com/office/drawing/2014/main" id="{96E1CE71-85F5-8C54-8742-2412D97A3C92}"/>
                </a:ext>
              </a:extLst>
            </p:cNvPr>
            <p:cNvSpPr txBox="1"/>
            <p:nvPr/>
          </p:nvSpPr>
          <p:spPr>
            <a:xfrm>
              <a:off x="1445812" y="3522134"/>
              <a:ext cx="2365178" cy="306705"/>
            </a:xfrm>
            <a:prstGeom prst="rect">
              <a:avLst/>
            </a:prstGeom>
            <a:noFill/>
          </p:spPr>
          <p:txBody>
            <a:bodyPr wrap="square" rtlCol="0">
              <a:spAutoFit/>
              <a:scene3d>
                <a:camera prst="orthographicFront"/>
                <a:lightRig rig="threePt" dir="t"/>
              </a:scene3d>
              <a:sp3d contourW="12700"/>
            </a:bodyPr>
            <a:lstStyle/>
            <a:p>
              <a:pPr algn="ctr"/>
              <a:r>
                <a:rPr lang="en-US" altLang="zh-CN" sz="1400" dirty="0">
                  <a:solidFill>
                    <a:schemeClr val="bg1"/>
                  </a:solidFill>
                  <a:cs typeface="+mn-ea"/>
                  <a:sym typeface="+mn-lt"/>
                </a:rPr>
                <a:t>Leyan Chen(U99402862)</a:t>
              </a:r>
            </a:p>
          </p:txBody>
        </p:sp>
      </p:grpSp>
      <p:sp>
        <p:nvSpPr>
          <p:cNvPr id="30" name="任意多边形 29">
            <a:extLst>
              <a:ext uri="{FF2B5EF4-FFF2-40B4-BE49-F238E27FC236}">
                <a16:creationId xmlns:a16="http://schemas.microsoft.com/office/drawing/2014/main" id="{AA93CBDA-9082-A253-42F5-4FF3D3D8A55B}"/>
              </a:ext>
            </a:extLst>
          </p:cNvPr>
          <p:cNvSpPr/>
          <p:nvPr/>
        </p:nvSpPr>
        <p:spPr>
          <a:xfrm rot="2700000">
            <a:off x="10732001" y="5932661"/>
            <a:ext cx="922260" cy="92686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2">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2" name="任意多边形 31">
            <a:extLst>
              <a:ext uri="{FF2B5EF4-FFF2-40B4-BE49-F238E27FC236}">
                <a16:creationId xmlns:a16="http://schemas.microsoft.com/office/drawing/2014/main" id="{E75D74C1-D78F-7006-AF99-4F1670560257}"/>
              </a:ext>
            </a:extLst>
          </p:cNvPr>
          <p:cNvSpPr/>
          <p:nvPr/>
        </p:nvSpPr>
        <p:spPr>
          <a:xfrm rot="2700000">
            <a:off x="1301417" y="5457574"/>
            <a:ext cx="707075" cy="71060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3" name="任意多边形 32">
            <a:extLst>
              <a:ext uri="{FF2B5EF4-FFF2-40B4-BE49-F238E27FC236}">
                <a16:creationId xmlns:a16="http://schemas.microsoft.com/office/drawing/2014/main" id="{5791D19D-4EEF-CC3A-CC69-D08B496356F4}"/>
              </a:ext>
            </a:extLst>
          </p:cNvPr>
          <p:cNvSpPr/>
          <p:nvPr/>
        </p:nvSpPr>
        <p:spPr>
          <a:xfrm rot="2700000">
            <a:off x="4647436" y="484397"/>
            <a:ext cx="354223" cy="355992"/>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41" name="组合 40">
            <a:extLst>
              <a:ext uri="{FF2B5EF4-FFF2-40B4-BE49-F238E27FC236}">
                <a16:creationId xmlns:a16="http://schemas.microsoft.com/office/drawing/2014/main" id="{512B5B16-5995-0F30-8988-7CD414817EC8}"/>
              </a:ext>
            </a:extLst>
          </p:cNvPr>
          <p:cNvGrpSpPr/>
          <p:nvPr/>
        </p:nvGrpSpPr>
        <p:grpSpPr>
          <a:xfrm>
            <a:off x="458272" y="546208"/>
            <a:ext cx="311151" cy="194270"/>
            <a:chOff x="207558" y="206734"/>
            <a:chExt cx="380545" cy="157163"/>
          </a:xfrm>
        </p:grpSpPr>
        <p:cxnSp>
          <p:nvCxnSpPr>
            <p:cNvPr id="35" name="直接连接符 34">
              <a:extLst>
                <a:ext uri="{FF2B5EF4-FFF2-40B4-BE49-F238E27FC236}">
                  <a16:creationId xmlns:a16="http://schemas.microsoft.com/office/drawing/2014/main" id="{C7948613-ED74-956F-085C-8E044C1F74FC}"/>
                </a:ext>
              </a:extLst>
            </p:cNvPr>
            <p:cNvCxnSpPr/>
            <p:nvPr/>
          </p:nvCxnSpPr>
          <p:spPr>
            <a:xfrm>
              <a:off x="207558" y="206734"/>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9D16B24-1BFA-677F-EFF7-82386C34C8CF}"/>
                </a:ext>
              </a:extLst>
            </p:cNvPr>
            <p:cNvCxnSpPr/>
            <p:nvPr/>
          </p:nvCxnSpPr>
          <p:spPr>
            <a:xfrm>
              <a:off x="207558" y="285316"/>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F0AAEF-2235-4B4C-63CB-702E47FE9A1D}"/>
                </a:ext>
              </a:extLst>
            </p:cNvPr>
            <p:cNvCxnSpPr/>
            <p:nvPr/>
          </p:nvCxnSpPr>
          <p:spPr>
            <a:xfrm>
              <a:off x="207558" y="363897"/>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83025F43-5944-680C-22E2-4FE0FFFD61C9}"/>
              </a:ext>
            </a:extLst>
          </p:cNvPr>
          <p:cNvSpPr txBox="1"/>
          <p:nvPr/>
        </p:nvSpPr>
        <p:spPr>
          <a:xfrm>
            <a:off x="966681" y="440800"/>
            <a:ext cx="3530455" cy="400110"/>
          </a:xfrm>
          <a:prstGeom prst="rect">
            <a:avLst/>
          </a:prstGeom>
          <a:noFill/>
        </p:spPr>
        <p:txBody>
          <a:bodyPr wrap="square" rtlCol="0">
            <a:spAutoFit/>
            <a:scene3d>
              <a:camera prst="orthographicFront"/>
              <a:lightRig rig="threePt" dir="t"/>
            </a:scene3d>
            <a:sp3d contourW="12700"/>
          </a:bodyPr>
          <a:lstStyle/>
          <a:p>
            <a:r>
              <a:rPr lang="en-US" altLang="zh-CN" sz="2000" dirty="0">
                <a:solidFill>
                  <a:schemeClr val="tx1">
                    <a:lumMod val="50000"/>
                    <a:lumOff val="50000"/>
                  </a:schemeClr>
                </a:solidFill>
                <a:cs typeface="+mn-ea"/>
                <a:sym typeface="+mn-lt"/>
              </a:rPr>
              <a:t>25Spring: CAS CS506</a:t>
            </a:r>
            <a:endParaRPr lang="zh-CN" altLang="en-US" sz="20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186878170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theme/theme1.xml><?xml version="1.0" encoding="utf-8"?>
<a:theme xmlns:a="http://schemas.openxmlformats.org/drawingml/2006/main" name="51PPT模板网   www.51pptmoban.com">
  <a:themeElements>
    <a:clrScheme name="自定义 1">
      <a:dk1>
        <a:srgbClr val="000000"/>
      </a:dk1>
      <a:lt1>
        <a:srgbClr val="FFFFFF"/>
      </a:lt1>
      <a:dk2>
        <a:srgbClr val="000000"/>
      </a:dk2>
      <a:lt2>
        <a:srgbClr val="FFFFFF"/>
      </a:lt2>
      <a:accent1>
        <a:srgbClr val="4B8E95"/>
      </a:accent1>
      <a:accent2>
        <a:srgbClr val="000000"/>
      </a:accent2>
      <a:accent3>
        <a:srgbClr val="4B5050"/>
      </a:accent3>
      <a:accent4>
        <a:srgbClr val="91969B"/>
      </a:accent4>
      <a:accent5>
        <a:srgbClr val="4B5050"/>
      </a:accent5>
      <a:accent6>
        <a:srgbClr val="91969B"/>
      </a:accent6>
      <a:hlink>
        <a:srgbClr val="F33B48"/>
      </a:hlink>
      <a:folHlink>
        <a:srgbClr val="FFC000"/>
      </a:folHlink>
    </a:clrScheme>
    <a:fontScheme name="nvx35pje">
      <a:majorFont>
        <a:latin typeface="Arial"/>
        <a:ea typeface="阿里巴巴普惠体 2.0 55 Regular"/>
        <a:cs typeface=""/>
      </a:majorFont>
      <a:minorFont>
        <a:latin typeface="Arial"/>
        <a:ea typeface="阿里巴巴普惠体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vx35pje">
      <a:majorFont>
        <a:latin typeface="Arial"/>
        <a:ea typeface="阿里巴巴普惠体 2.0 55 Regular"/>
        <a:cs typeface=""/>
      </a:majorFont>
      <a:minorFont>
        <a:latin typeface="Arial"/>
        <a:ea typeface="阿里巴巴普惠体 2.0 55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1103</TotalTime>
  <Words>868</Words>
  <Application>Microsoft Office PowerPoint</Application>
  <PresentationFormat>宽屏</PresentationFormat>
  <Paragraphs>120</Paragraphs>
  <Slides>30</Slides>
  <Notes>30</Notes>
  <HiddenSlides>0</HiddenSlides>
  <MMClips>0</MMClips>
  <ScaleCrop>false</ScaleCrop>
  <HeadingPairs>
    <vt:vector size="6" baseType="variant">
      <vt:variant>
        <vt:lpstr>已用的字体</vt:lpstr>
      </vt:variant>
      <vt:variant>
        <vt:i4>3</vt:i4>
      </vt:variant>
      <vt:variant>
        <vt:lpstr>主题</vt:lpstr>
      </vt:variant>
      <vt:variant>
        <vt:i4>2</vt:i4>
      </vt:variant>
      <vt:variant>
        <vt:lpstr>幻灯片标题</vt:lpstr>
      </vt:variant>
      <vt:variant>
        <vt:i4>30</vt:i4>
      </vt:variant>
    </vt:vector>
  </HeadingPairs>
  <TitlesOfParts>
    <vt:vector size="35" baseType="lpstr">
      <vt:lpstr>阿里巴巴普惠体 L</vt:lpstr>
      <vt:lpstr>阿里巴巴普惠体 M</vt:lpstr>
      <vt:lpstr>Arial</vt:lpstr>
      <vt:lpstr>51PPT模板网   www.51pptmoban.com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www.51pptmoban.com</Manager>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箭头几何风简约商务总结计划汇报通用ppt模板</dc:title>
  <dc:creator>user</dc:creator>
  <cp:keywords>www.51pptmoban.com</cp:keywords>
  <dc:description>www.51pptmoban.com</dc:description>
  <cp:lastModifiedBy>Chen, Leyan</cp:lastModifiedBy>
  <cp:revision>112</cp:revision>
  <dcterms:created xsi:type="dcterms:W3CDTF">2021-06-28T00:59:57Z</dcterms:created>
  <dcterms:modified xsi:type="dcterms:W3CDTF">2025-04-01T02:54:07Z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7A7DA513078843EA9486CE55D88D1844</vt:lpwstr>
  </property>
  <property fmtid="{D5CDD505-2E9C-101B-9397-08002B2CF9AE}" pid="3" name="KSOProductBuildVer">
    <vt:lpwstr>2052-11.1.0.10495</vt:lpwstr>
  </property>
</Properties>
</file>